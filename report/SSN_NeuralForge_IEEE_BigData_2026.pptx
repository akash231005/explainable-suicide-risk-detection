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50a3bf8-46fe-4cd4-5075-bf8f1844b49b}">
          <p14:sldIdLst>
            <p14:sldId id="256"/>
          </p14:sldIdLst>
        </p14:section>
        <p14:section name="Problem" id="{e4b025f5-5517-4f1b-245d-5e742c859e6e}">
          <p14:sldIdLst>
            <p14:sldId id="257"/>
            <p14:sldId id="258"/>
          </p14:sldIdLst>
        </p14:section>
        <p14:section name="Method" id="{871e1602-d07f-c6db-9361-052a957841db}">
          <p14:sldIdLst>
            <p14:sldId id="259"/>
            <p14:sldId id="260"/>
            <p14:sldId id="261"/>
          </p14:sldIdLst>
        </p14:section>
        <p14:section name="Results" id="{9b861c08-4d58-9bf2-d0f3-0b354314de03}">
          <p14:sldIdLst>
            <p14:sldId id="262"/>
            <p14:sldId id="263"/>
            <p14:sldId id="264"/>
            <p14:sldId id="265"/>
            <p14:sldId id="266"/>
          </p14:sldIdLst>
        </p14:section>
        <p14:section name="Discussion" id="{2c10b4f0-1a9b-cec3-8d41-620aaaa3b417}">
          <p14:sldIdLst>
            <p14:sldId id="267"/>
            <p14:sldId id="268"/>
            <p14:sldId id="269"/>
          </p14:sldIdLst>
        </p14:section>
        <p14:section name="Close" id="{d8861754-1ef5-563e-97d2-c91511c2aa82}">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1F3A"/>
                </a:solidFill>
                <a:latin typeface="+mn-lt"/>
              </a:defRPr>
            </a:pPr>
            <a:r>
              <a:rPr sz="1200" b="0" i="0" u="none" strike="noStrike">
                <a:solidFill>
                  <a:srgbClr val="0B1F3A"/>
                </a:solidFill>
                <a:latin typeface="+mn-lt"/>
              </a:rPr>
              <a:t>Risk accuracy by stage (axis starts at 0.5)</a:t>
            </a:r>
          </a:p>
        </c:rich>
      </c:tx>
      <c:layout/>
      <c:overlay val="0"/>
    </c:title>
    <c:autoTitleDeleted val="0"/>
    <c:plotArea>
      <c:layout/>
      <c:barChart>
        <c:barDir val="col"/>
        <c:grouping val="clustered"/>
        <c:varyColors val="0"/>
        <c:ser>
          <c:idx val="0"/>
          <c:order val="0"/>
          <c:tx>
            <c:strRef>
              <c:f>Sheet1!$B$1</c:f>
              <c:strCache>
                <c:ptCount val="1"/>
                <c:pt idx="0">
                  <c:v>OOF accuracy</c:v>
                </c:pt>
              </c:strCache>
            </c:strRef>
          </c:tx>
          <c:spPr>
            <a:solidFill>
              <a:srgbClr val="9AA8B8"/>
            </a:solidFill>
            <a:effectLst/>
          </c:spPr>
          <c:invertIfNegative val="0"/>
          <c:dLbls>
            <c:numFmt formatCode="0.000" sourceLinked="0"/>
            <c:txPr>
              <a:bodyPr/>
              <a:lstStyle/>
              <a:p>
                <a:pPr>
                  <a:defRPr b="0" i="0" strike="noStrike" sz="900" u="none">
                    <a:solidFill>
                      <a:srgbClr val="0B1F3A"/>
                    </a:solidFill>
                    <a:latin typeface="+mn-lt"/>
                  </a:defRPr>
                </a:pPr>
              </a:p>
            </c:txPr>
            <c:showLegendKey val="0"/>
            <c:showVal val="1"/>
            <c:showCatName val="0"/>
            <c:showSerName val="0"/>
            <c:showPercent val="0"/>
            <c:showBubbleSize val="0"/>
            <c:showLeaderLines val="0"/>
          </c:dLbls>
          <c:cat>
            <c:multiLvlStrRef>
              <c:f>Sheet1!$A$2:$A$6</c:f>
              <c:multiLvlStrCache>
                <c:ptCount val="5"/>
                <c:lvl>
                  <c:pt idx="0">
                    <c:v>TF-IDF word</c:v>
                  </c:pt>
                  <c:pt idx="1">
                    <c:v>TF-IDF word+char</c:v>
                  </c:pt>
                  <c:pt idx="2">
                    <c:v>TF-IDF (current)</c:v>
                  </c:pt>
                  <c:pt idx="3">
                    <c:v>MentalRoBERTa</c:v>
                  </c:pt>
                  <c:pt idx="4">
                    <c:v>+ TF-IDF blend</c:v>
                  </c:pt>
                </c:lvl>
              </c:multiLvlStrCache>
            </c:multiLvlStrRef>
          </c:cat>
          <c:val>
            <c:numRef>
              <c:f>Sheet1!$B$2:$B$6</c:f>
              <c:numCache>
                <c:formatCode>General</c:formatCode>
                <c:ptCount val="5"/>
                <c:pt idx="0">
                  <c:v>0.5946</c:v>
                </c:pt>
                <c:pt idx="1">
                  <c:v>0.6169</c:v>
                </c:pt>
                <c:pt idx="2">
                  <c:v>0.6169</c:v>
                </c:pt>
                <c:pt idx="3">
                  <c:v>0.7571</c:v>
                </c:pt>
                <c:pt idx="4">
                  <c:v>0.7548</c:v>
                </c:pt>
              </c:numCache>
            </c:numRef>
          </c:val>
        </c:ser>
        <c:ser>
          <c:idx val="1"/>
          <c:order val="1"/>
          <c:tx>
            <c:strRef>
              <c:f>Sheet1!$C$1</c:f>
              <c:strCache>
                <c:ptCount val="1"/>
                <c:pt idx="0">
                  <c:v>Held-out accuracy</c:v>
                </c:pt>
              </c:strCache>
            </c:strRef>
          </c:tx>
          <c:spPr>
            <a:solidFill>
              <a:srgbClr val="0FA3B1"/>
            </a:solidFill>
            <a:effectLst/>
          </c:spPr>
          <c:invertIfNegative val="0"/>
          <c:dLbls>
            <c:numFmt formatCode="0.000" sourceLinked="0"/>
            <c:txPr>
              <a:bodyPr/>
              <a:lstStyle/>
              <a:p>
                <a:pPr>
                  <a:defRPr b="0" i="0" strike="noStrike" sz="900" u="none">
                    <a:solidFill>
                      <a:srgbClr val="0B1F3A"/>
                    </a:solidFill>
                    <a:latin typeface="+mn-lt"/>
                  </a:defRPr>
                </a:pPr>
              </a:p>
            </c:txPr>
            <c:showLegendKey val="0"/>
            <c:showVal val="1"/>
            <c:showCatName val="0"/>
            <c:showSerName val="0"/>
            <c:showPercent val="0"/>
            <c:showBubbleSize val="0"/>
            <c:showLeaderLines val="0"/>
          </c:dLbls>
          <c:cat>
            <c:multiLvlStrRef>
              <c:f>Sheet1!$A$2:$A$6</c:f>
              <c:multiLvlStrCache>
                <c:ptCount val="5"/>
                <c:lvl>
                  <c:pt idx="0">
                    <c:v>TF-IDF word</c:v>
                  </c:pt>
                  <c:pt idx="1">
                    <c:v>TF-IDF word+char</c:v>
                  </c:pt>
                  <c:pt idx="2">
                    <c:v>TF-IDF (current)</c:v>
                  </c:pt>
                  <c:pt idx="3">
                    <c:v>MentalRoBERTa</c:v>
                  </c:pt>
                  <c:pt idx="4">
                    <c:v>+ TF-IDF blend</c:v>
                  </c:pt>
                </c:lvl>
              </c:multiLvlStrCache>
            </c:multiLvlStrRef>
          </c:cat>
          <c:val>
            <c:numRef>
              <c:f>Sheet1!$C$2:$C$6</c:f>
              <c:numCache>
                <c:formatCode>General</c:formatCode>
                <c:ptCount val="5"/>
                <c:pt idx="0">
                  <c:v>0.6061</c:v>
                </c:pt>
                <c:pt idx="1">
                  <c:v>0.6242</c:v>
                </c:pt>
                <c:pt idx="2">
                  <c:v>0.6273</c:v>
                </c:pt>
                <c:pt idx="3">
                  <c:v>0.7606</c:v>
                </c:pt>
                <c:pt idx="4">
                  <c:v>0.7667</c:v>
                </c:pt>
              </c:numCache>
            </c:numRef>
          </c:val>
        </c:ser>
        <c:dLbls>
          <c:numFmt formatCode="0.000" sourceLinked="0"/>
          <c:txPr>
            <a:bodyPr/>
            <a:lstStyle/>
            <a:p>
              <a:pPr>
                <a:defRPr b="0" i="0" strike="noStrike" sz="900" u="none">
                  <a:solidFill>
                    <a:srgbClr val="0B1F3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7F"/>
                </a:solidFill>
                <a:latin typeface="+mn-lt"/>
              </a:defRPr>
            </a:pPr>
            <a:endParaRPr lang="en-US"/>
          </a:p>
        </c:txPr>
        <c:crossAx val="2094734552"/>
        <c:crosses val="autoZero"/>
        <c:auto val="1"/>
        <c:lblAlgn val="ctr"/>
        <c:noMultiLvlLbl val="1"/>
      </c:catAx>
      <c:valAx>
        <c:axId val="2094734552"/>
        <c:scaling>
          <c:orientation val="minMax"/>
          <c:max val="0.8"/>
          <c:min val="0.5"/>
        </c:scaling>
        <c:delete val="0"/>
        <c:axPos val="l"/>
        <c:majorGridlines>
          <c:spPr>
            <a:ln w="6350" cap="flat">
              <a:solidFill>
                <a:srgbClr val="D3DD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F"/>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B6B7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1F3A"/>
                </a:solidFill>
                <a:latin typeface="+mn-lt"/>
              </a:defRPr>
            </a:pPr>
            <a:r>
              <a:rPr sz="1200" b="0" i="0" u="none" strike="noStrike">
                <a:solidFill>
                  <a:srgbClr val="0B1F3A"/>
                </a:solidFill>
                <a:latin typeface="+mn-lt"/>
              </a:rPr>
              <a:t>Risk F1 by class, held-out</a:t>
            </a:r>
          </a:p>
        </c:rich>
      </c:tx>
      <c:layout/>
      <c:overlay val="0"/>
    </c:title>
    <c:autoTitleDeleted val="0"/>
    <c:plotArea>
      <c:layout/>
      <c:barChart>
        <c:barDir val="col"/>
        <c:grouping val="clustered"/>
        <c:varyColors val="0"/>
        <c:ser>
          <c:idx val="0"/>
          <c:order val="0"/>
          <c:tx>
            <c:strRef>
              <c:f>Sheet1!$B$1</c:f>
              <c:strCache>
                <c:ptCount val="1"/>
                <c:pt idx="0">
                  <c:v>Without</c:v>
                </c:pt>
              </c:strCache>
            </c:strRef>
          </c:tx>
          <c:spPr>
            <a:solidFill>
              <a:srgbClr val="9AA8B8"/>
            </a:solidFill>
            <a:effectLst/>
          </c:spPr>
          <c:invertIfNegative val="0"/>
          <c:dLbls>
            <c:numFmt formatCode="0.00" sourceLinked="0"/>
            <c:txPr>
              <a:bodyPr/>
              <a:lstStyle/>
              <a:p>
                <a:pPr>
                  <a:defRPr b="0" i="0" strike="noStrike" sz="900" u="none">
                    <a:solidFill>
                      <a:srgbClr val="0B1F3A"/>
                    </a:solidFill>
                    <a:latin typeface="+mn-lt"/>
                  </a:defRPr>
                </a:pPr>
              </a:p>
            </c:txPr>
            <c:showLegendKey val="0"/>
            <c:showVal val="1"/>
            <c:showCatName val="0"/>
            <c:showSerName val="0"/>
            <c:showPercent val="0"/>
            <c:showBubbleSize val="0"/>
            <c:showLeaderLines val="0"/>
          </c:dLbls>
          <c:cat>
            <c:multiLvlStrRef>
              <c:f>Sheet1!$A$2:$A$5</c:f>
              <c:multiLvlStrCache>
                <c:ptCount val="4"/>
                <c:lvl>
                  <c:pt idx="0">
                    <c:v>Indicator</c:v>
                  </c:pt>
                  <c:pt idx="1">
                    <c:v>Ideation</c:v>
                  </c:pt>
                  <c:pt idx="2">
                    <c:v>Behavior</c:v>
                  </c:pt>
                  <c:pt idx="3">
                    <c:v>Attempt</c:v>
                  </c:pt>
                </c:lvl>
              </c:multiLvlStrCache>
            </c:multiLvlStrRef>
          </c:cat>
          <c:val>
            <c:numRef>
              <c:f>Sheet1!$B$2:$B$5</c:f>
              <c:numCache>
                <c:formatCode>General</c:formatCode>
                <c:ptCount val="4"/>
                <c:pt idx="0">
                  <c:v>0.737</c:v>
                </c:pt>
                <c:pt idx="1">
                  <c:v>0.658</c:v>
                </c:pt>
                <c:pt idx="2">
                  <c:v>0.457</c:v>
                </c:pt>
                <c:pt idx="3">
                  <c:v>0.4</c:v>
                </c:pt>
              </c:numCache>
            </c:numRef>
          </c:val>
        </c:ser>
        <c:ser>
          <c:idx val="1"/>
          <c:order val="1"/>
          <c:tx>
            <c:strRef>
              <c:f>Sheet1!$C$1</c:f>
              <c:strCache>
                <c:ptCount val="1"/>
                <c:pt idx="0">
                  <c:v>With</c:v>
                </c:pt>
              </c:strCache>
            </c:strRef>
          </c:tx>
          <c:spPr>
            <a:solidFill>
              <a:srgbClr val="0FA3B1"/>
            </a:solidFill>
            <a:effectLst/>
          </c:spPr>
          <c:invertIfNegative val="0"/>
          <c:dLbls>
            <c:numFmt formatCode="0.00" sourceLinked="0"/>
            <c:txPr>
              <a:bodyPr/>
              <a:lstStyle/>
              <a:p>
                <a:pPr>
                  <a:defRPr b="0" i="0" strike="noStrike" sz="900" u="none">
                    <a:solidFill>
                      <a:srgbClr val="0B1F3A"/>
                    </a:solidFill>
                    <a:latin typeface="+mn-lt"/>
                  </a:defRPr>
                </a:pPr>
              </a:p>
            </c:txPr>
            <c:showLegendKey val="0"/>
            <c:showVal val="1"/>
            <c:showCatName val="0"/>
            <c:showSerName val="0"/>
            <c:showPercent val="0"/>
            <c:showBubbleSize val="0"/>
            <c:showLeaderLines val="0"/>
          </c:dLbls>
          <c:cat>
            <c:multiLvlStrRef>
              <c:f>Sheet1!$A$2:$A$5</c:f>
              <c:multiLvlStrCache>
                <c:ptCount val="4"/>
                <c:lvl>
                  <c:pt idx="0">
                    <c:v>Indicator</c:v>
                  </c:pt>
                  <c:pt idx="1">
                    <c:v>Ideation</c:v>
                  </c:pt>
                  <c:pt idx="2">
                    <c:v>Behavior</c:v>
                  </c:pt>
                  <c:pt idx="3">
                    <c:v>Attempt</c:v>
                  </c:pt>
                </c:lvl>
              </c:multiLvlStrCache>
            </c:multiLvlStrRef>
          </c:cat>
          <c:val>
            <c:numRef>
              <c:f>Sheet1!$C$2:$C$5</c:f>
              <c:numCache>
                <c:formatCode>General</c:formatCode>
                <c:ptCount val="4"/>
                <c:pt idx="0">
                  <c:v>0.82</c:v>
                </c:pt>
                <c:pt idx="1">
                  <c:v>0.748</c:v>
                </c:pt>
                <c:pt idx="2">
                  <c:v>0.738</c:v>
                </c:pt>
                <c:pt idx="3">
                  <c:v>0.7</c:v>
                </c:pt>
              </c:numCache>
            </c:numRef>
          </c:val>
        </c:ser>
        <c:dLbls>
          <c:numFmt formatCode="0.00" sourceLinked="0"/>
          <c:txPr>
            <a:bodyPr/>
            <a:lstStyle/>
            <a:p>
              <a:pPr>
                <a:defRPr b="0" i="0" strike="noStrike" sz="900" u="none">
                  <a:solidFill>
                    <a:srgbClr val="0B1F3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F"/>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3DD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F"/>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B6B7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(~0:20)
SAY: "We are SSN NeuralForge from SSN College of Engineering. This update presents our fine-tuned transformer system and measures it against our earlier classical pipeline on identical held-out data."
KEY POINT: explainable multi-task system; every claim is a local validation result.
REMEMBER: risk + verbatim evidence +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(~0:40)
SAY: "Risk language in online posts is indirect and context-dependent. A bare label is hard to audit, so the system also shows why."
KEY POINT: classification plus evidence enables human review.
REMEMBER: decision support for reviewers.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(~0:40)
SAY: "Subtask 1 asks for a four-class risk label plus supporting evidence phrases; Subtask 2 asks for 24-category multi-label factors. Training has 1,635 labeled posts; the prediction file has 502 unlabeled posts."
KEY POINT: one post, three outputs.
REMEMBER: classification alone is not the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(~0:50)
SAY: "Everything is split by user so no author appears on both sides. We set aside 20 percent as a held-out set (330 posts, 32 users), run five-fold grouped cross-validation on the other 1,305 posts, make every choice on out-of-fold predictions, and score the held-out set once."
KEY POINT: nothing is tuned on the held-out set.
REMEMBER: 1,305 development, 330 held-out.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(~1:00)
SAY: "Three parallel branches. Risk uses fine-tuned MentalRoBERTa models blended with a TF-IDF classifier. Evidence uses a large language model to propose spans, and we keep only spans that match the post text exactly. Factors use a multi-label MentalRoBERTa with thresholds tuned out-of-fold."
KEY POINT: the evidence step depends on an external LLM API, which we flag as a limitation.
REMEMBER: three branches, one explainable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(~1:00)
SAY: "For risk we fine-tune MentalRoBERTa, a model pretrained on mental-health text, in five folds and blend it lightly with TF-IDF. For factors we use the same encoder with 24 outputs. For evidence, the language model proposes spans, but each one must match the post exactly or it is dropped."
KEY POINT: verified-verbatim evidence.
REMEMBER: nothing in the evidence is invented.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(~0:50)
SAY: "Here is what changed. Models: from TF-IDF linear models to fine-tuned transformers. Evidence: from a trained span scorer to LLM selection with exact-match verification. Protocol: from a single split with thresholds tuned on the evaluation data to nested user-grouped validation with a held-out set scored once."
KEY POINT: the earlier pipeline was re-run on the same split, so comparisons are like-for-like.
REMEMBER: both model and protocol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(~0:50)
SAY: "Almost all of the risk gain comes from the encoder: out-of-fold accuracy goes from 0.617 for TF-IDF to 0.757. The TF-IDF blend moves accuracy by less than a point either way, so we cannot claim it helps. We changed several fine-tuning settings together, so we do not attribute the gain to any one of them."
KEY POINT: honest attribution.
REMEMBER: the encoder is the driver; the blend is not demonstrated.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(~1:00)
SAY: "This is a real held-out prediction. Risk Ideation at 0.94 probability and factor low self-esteem both match the annotation. The selected evidence is the whole short post, where the annotator marked only 'want to kill myself'. That granularity gap is the main weakness of our evidence step."
KEY POINT: honest example showing strength and weakness.
REMEMBER: evidence is copied from the post, but selection is imperfect.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(~1:00)
SAY: "On the held-out set, risk weighted F1 is 0.767 versus 0.621 before; factor macro F1 is 0.481 versus 0.389; evidence token F1 is 0.318 versus 0.229. The biggest per-class gains are Behavior and Attempt. Attempt has only 20 held-out posts, so its figure is noisy. Evidence is a token-overlap proxy, not the official metric."
KEY POINT: like-for-like comparison, local validation only.
REMEMBER: risk strongest, factors improved, evidence is a proxy.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(~0:50)
SAY: "All decisions are made on out-of-fold predictions; the held-out set is scored once. Intervals resample users, not posts. OOF is slightly optimistic, so we quote the held-out number. A limitation is that this protocol uses one split seed."
KEY POINT: stricter protocol than before.
REMEMBER: nothing is tuned on the held-out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(~0:50)
SAY: "Five takeaways. The encoder drives risk. Behavior and Attempt gain most. Four in five remaining errors are between neighboring severity levels. The earlier gain from per-factor thresholds came from tuning on the evaluation split, and vanished under cross-fitting. And the evidence improvement is on a proxy metric."
KEY POINT: correcting an earlier conclusion strengthens credibility.
REMEMBER: be careful with small held-out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(~0:50)
SAY: "The held-out set is small, we used one seed, and one backbone failed to run. Evidence is only measured by a proxy. Importantly, our evidence step sends post text to a third-party model; for sensitive data that needs approval or a locally hosted model. This is a research prototype that should only support human reviewers."
KEY POINT: privacy and data governance.
REMEMBER: assist, not replace.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(~0:40)
SAY: "Next we will repeat with multiple seeds and backbones, ablate our fine-tuning settings, store evidence predictions so we can compute the challenge metric, and replace the hosted LLM with a local model. Longer term: calibration, fairness, cross-domain checks, and clinician-in-the-loop evaluation."
KEY POINT: none of these is done yet.
REMEMBER: planned, not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(~0:30)
SAY: "On identical held-out data, fine-tuned transformers lift risk accuracy from 62 to 77 percent and improve factors and evidence, while our stricter validation corrected one earlier claim. Evidence stays verbatim but depends on an external model. Thank you; happy to take questions."
KEY POINT: improvement is real but measured on a small set.
REMEMBER: assist, not replace.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457200" y="4773168"/>
            <a:ext cx="4572000" cy="256032"/>
          </a:xfrm>
          <a:prstGeom prst="rect">
            <a:avLst/>
          </a:prstGeom>
          <a:noFill/>
          <a:ln/>
        </p:spPr>
        <p:txBody>
          <a:bodyPr wrap="square" lIns="0" tIns="0" rIns="0" bIns="0" rtlCol="0" anchor="ctr"/>
          <a:lstStyle/>
          <a:p>
            <a:pPr indent="0" marL="0">
              <a:buNone/>
            </a:pPr>
            <a:r>
              <a:rPr lang="en-US" sz="1000" dirty="0">
                <a:solidFill>
                  <a:schemeClr val="accent3"/>
                </a:solidFill>
              </a:rPr>
              <a:t>SSN NeuralForge  |  IEEE BigData 2026</a:t>
            </a:r>
            <a:endParaRPr lang="en-US" sz="1000" dirty="0"/>
          </a:p>
        </p:txBody>
      </p:sp>
      <p:sp>
        <p:nvSpPr>
          <p:cNvPr id="3" name="Text 1"/>
          <p:cNvSpPr/>
          <p:nvPr>
            <p:ph idx="101" type="title" hasCustomPrompt="1"/>
          </p:nvPr>
        </p:nvSpPr>
        <p:spPr>
          <a:xfrm>
            <a:off x="457200" y="274320"/>
            <a:ext cx="8229600" cy="64008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457200" y="4773168"/>
            <a:ext cx="4572000" cy="256032"/>
          </a:xfrm>
          <a:prstGeom prst="rect">
            <a:avLst/>
          </a:prstGeom>
          <a:noFill/>
          <a:ln/>
        </p:spPr>
        <p:txBody>
          <a:bodyPr wrap="square" lIns="0" tIns="0" rIns="0" bIns="0" rtlCol="0" anchor="ctr"/>
          <a:lstStyle/>
          <a:p>
            <a:pPr indent="0" marL="0">
              <a:buNone/>
            </a:pPr>
            <a:r>
              <a:rPr lang="en-US" sz="1000" dirty="0">
                <a:solidFill>
                  <a:schemeClr val="accent4"/>
                </a:solidFill>
              </a:rPr>
              <a:t>SSN NeuralForge  |  IEEE BigData 2026</a:t>
            </a:r>
            <a:endParaRPr lang="en-US" sz="1000" dirty="0"/>
          </a:p>
        </p:txBody>
      </p:sp>
      <p:sp>
        <p:nvSpPr>
          <p:cNvPr id="3" name="Text 1"/>
          <p:cNvSpPr/>
          <p:nvPr>
            <p:ph idx="101" type="title" hasCustomPrompt="1"/>
          </p:nvPr>
        </p:nvSpPr>
        <p:spPr>
          <a:xfrm>
            <a:off x="548640" y="365760"/>
            <a:ext cx="8046720" cy="91440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188720"/>
            <a:ext cx="5303520" cy="1371600"/>
          </a:xfrm>
          <a:prstGeom prst="rect">
            <a:avLst/>
          </a:prstGeom>
          <a:noFill/>
          <a:ln/>
        </p:spPr>
        <p:txBody>
          <a:bodyPr wrap="square" lIns="0" tIns="0" rIns="0" bIns="0" rtlCol="0" anchor="t"/>
          <a:lstStyle/>
          <a:p>
            <a:pPr indent="0" marL="0">
              <a:buNone/>
            </a:pPr>
            <a:r>
              <a:rPr lang="en-US" sz="3400" b="1" dirty="0">
                <a:solidFill>
                  <a:schemeClr val="bg1"/>
                </a:solidFill>
                <a:latin typeface="Cambria" pitchFamily="34" charset="0"/>
                <a:ea typeface="Cambria" pitchFamily="34" charset="-122"/>
                <a:cs typeface="Cambria" pitchFamily="34" charset="-120"/>
              </a:rPr>
              <a:t>Explainable Suicide Risk</a:t>
            </a:r>
            <a:endParaRPr lang="en-US" sz="3400" dirty="0"/>
          </a:p>
          <a:p>
            <a:pPr indent="0" marL="0">
              <a:buNone/>
            </a:pPr>
            <a:r>
              <a:rPr lang="en-US" sz="3400" b="1" dirty="0">
                <a:solidFill>
                  <a:schemeClr val="bg1"/>
                </a:solidFill>
                <a:latin typeface="Cambria" pitchFamily="34" charset="0"/>
                <a:ea typeface="Cambria" pitchFamily="34" charset="-122"/>
                <a:cs typeface="Cambria" pitchFamily="34" charset="-120"/>
              </a:rPr>
              <a:t>Detection Using NLP</a:t>
            </a:r>
            <a:endParaRPr lang="en-US" sz="3400" dirty="0"/>
          </a:p>
        </p:txBody>
      </p:sp>
      <p:sp>
        <p:nvSpPr>
          <p:cNvPr id="3" name="Text 1"/>
          <p:cNvSpPr txBox="1"/>
          <p:nvPr/>
        </p:nvSpPr>
        <p:spPr>
          <a:xfrm>
            <a:off x="548640" y="2697480"/>
            <a:ext cx="5120640" cy="640080"/>
          </a:xfrm>
          <a:prstGeom prst="rect">
            <a:avLst/>
          </a:prstGeom>
          <a:noFill/>
          <a:ln/>
        </p:spPr>
        <p:txBody>
          <a:bodyPr wrap="square" lIns="0" tIns="0" rIns="0" bIns="0" rtlCol="0" anchor="t"/>
          <a:lstStyle/>
          <a:p>
            <a:pPr algn="l" indent="0" marL="0">
              <a:buNone/>
            </a:pPr>
            <a:r>
              <a:rPr lang="en-US" sz="1600" dirty="0">
                <a:solidFill>
                  <a:schemeClr val="accent4"/>
                </a:solidFill>
              </a:rPr>
              <a:t>IEEE BigData 2026 — Explainable Suicide Risk Detection Challenge</a:t>
            </a:r>
            <a:endParaRPr lang="en-US" sz="1600" dirty="0"/>
          </a:p>
        </p:txBody>
      </p:sp>
      <p:sp>
        <p:nvSpPr>
          <p:cNvPr id="4" name="Text 2"/>
          <p:cNvSpPr txBox="1"/>
          <p:nvPr/>
        </p:nvSpPr>
        <p:spPr>
          <a:xfrm>
            <a:off x="548640" y="3520440"/>
            <a:ext cx="5120640" cy="365760"/>
          </a:xfrm>
          <a:prstGeom prst="rect">
            <a:avLst/>
          </a:prstGeom>
          <a:noFill/>
          <a:ln/>
        </p:spPr>
        <p:txBody>
          <a:bodyPr wrap="square" lIns="0" tIns="0" rIns="0" bIns="0" rtlCol="0" anchor="ctr"/>
          <a:lstStyle/>
          <a:p>
            <a:pPr indent="0" marL="0">
              <a:buNone/>
            </a:pPr>
            <a:r>
              <a:rPr lang="en-US" sz="2200" b="1" dirty="0">
                <a:solidFill>
                  <a:schemeClr val="accent1"/>
                </a:solidFill>
              </a:rPr>
              <a:t>SSN NeuralForge</a:t>
            </a:r>
            <a:endParaRPr lang="en-US" sz="2200" dirty="0"/>
          </a:p>
        </p:txBody>
      </p:sp>
      <p:sp>
        <p:nvSpPr>
          <p:cNvPr id="5" name="Text 3"/>
          <p:cNvSpPr txBox="1"/>
          <p:nvPr/>
        </p:nvSpPr>
        <p:spPr>
          <a:xfrm>
            <a:off x="548640" y="3931920"/>
            <a:ext cx="5120640" cy="274320"/>
          </a:xfrm>
          <a:prstGeom prst="rect">
            <a:avLst/>
          </a:prstGeom>
          <a:noFill/>
          <a:ln/>
        </p:spPr>
        <p:txBody>
          <a:bodyPr wrap="square" lIns="0" tIns="0" rIns="0" bIns="0" rtlCol="0" anchor="t"/>
          <a:lstStyle/>
          <a:p>
            <a:pPr algn="l" indent="0" marL="0">
              <a:buNone/>
            </a:pPr>
            <a:r>
              <a:rPr lang="en-US" sz="1400" dirty="0">
                <a:solidFill>
                  <a:schemeClr val="bg1"/>
                </a:solidFill>
              </a:rPr>
              <a:t>SSN College of Engineering, Chennai</a:t>
            </a:r>
            <a:endParaRPr lang="en-US" sz="1400" dirty="0"/>
          </a:p>
        </p:txBody>
      </p:sp>
      <p:sp>
        <p:nvSpPr>
          <p:cNvPr id="6" name="Shape 4"/>
          <p:cNvSpPr/>
          <p:nvPr/>
        </p:nvSpPr>
        <p:spPr>
          <a:xfrm>
            <a:off x="6217920" y="914400"/>
            <a:ext cx="2011680" cy="182880"/>
          </a:xfrm>
          <a:prstGeom prst="roundRect">
            <a:avLst>
              <a:gd name="adj" fmla="val 50000"/>
            </a:avLst>
          </a:prstGeom>
          <a:solidFill>
            <a:schemeClr val="accent5"/>
          </a:solidFill>
          <a:ln w="12700">
            <a:solidFill>
              <a:schemeClr val="accent5"/>
            </a:solidFill>
            <a:prstDash val="solid"/>
          </a:ln>
        </p:spPr>
      </p:sp>
      <p:sp>
        <p:nvSpPr>
          <p:cNvPr id="7" name="Shape 5"/>
          <p:cNvSpPr/>
          <p:nvPr/>
        </p:nvSpPr>
        <p:spPr>
          <a:xfrm>
            <a:off x="6217920" y="1261872"/>
            <a:ext cx="1463040" cy="182880"/>
          </a:xfrm>
          <a:prstGeom prst="roundRect">
            <a:avLst>
              <a:gd name="adj" fmla="val 50000"/>
            </a:avLst>
          </a:prstGeom>
          <a:solidFill>
            <a:schemeClr val="accent5"/>
          </a:solidFill>
          <a:ln w="12700">
            <a:solidFill>
              <a:schemeClr val="accent5"/>
            </a:solidFill>
            <a:prstDash val="solid"/>
          </a:ln>
        </p:spPr>
      </p:sp>
      <p:sp>
        <p:nvSpPr>
          <p:cNvPr id="8" name="Shape 6"/>
          <p:cNvSpPr/>
          <p:nvPr/>
        </p:nvSpPr>
        <p:spPr>
          <a:xfrm>
            <a:off x="6217920" y="1609344"/>
            <a:ext cx="2377440" cy="182880"/>
          </a:xfrm>
          <a:prstGeom prst="roundRect">
            <a:avLst>
              <a:gd name="adj" fmla="val 50000"/>
            </a:avLst>
          </a:prstGeom>
          <a:solidFill>
            <a:schemeClr val="accent5"/>
          </a:solidFill>
          <a:ln w="12700">
            <a:solidFill>
              <a:schemeClr val="accent5"/>
            </a:solidFill>
            <a:prstDash val="solid"/>
          </a:ln>
        </p:spPr>
      </p:sp>
      <p:sp>
        <p:nvSpPr>
          <p:cNvPr id="9" name="Shape 7"/>
          <p:cNvSpPr/>
          <p:nvPr/>
        </p:nvSpPr>
        <p:spPr>
          <a:xfrm>
            <a:off x="6217920" y="1956816"/>
            <a:ext cx="1737360" cy="182880"/>
          </a:xfrm>
          <a:prstGeom prst="roundRect">
            <a:avLst>
              <a:gd name="adj" fmla="val 50000"/>
            </a:avLst>
          </a:prstGeom>
          <a:solidFill>
            <a:schemeClr val="accent5"/>
          </a:solidFill>
          <a:ln w="12700">
            <a:solidFill>
              <a:schemeClr val="accent5"/>
            </a:solidFill>
            <a:prstDash val="solid"/>
          </a:ln>
        </p:spPr>
      </p:sp>
      <p:sp>
        <p:nvSpPr>
          <p:cNvPr id="10" name="Shape 8"/>
          <p:cNvSpPr/>
          <p:nvPr/>
        </p:nvSpPr>
        <p:spPr>
          <a:xfrm>
            <a:off x="6217920" y="2304288"/>
            <a:ext cx="2194560" cy="182880"/>
          </a:xfrm>
          <a:prstGeom prst="roundRect">
            <a:avLst>
              <a:gd name="adj" fmla="val 50000"/>
            </a:avLst>
          </a:prstGeom>
          <a:solidFill>
            <a:schemeClr val="accent5"/>
          </a:solidFill>
          <a:ln w="12700">
            <a:solidFill>
              <a:schemeClr val="accent5"/>
            </a:solidFill>
            <a:prstDash val="solid"/>
          </a:ln>
        </p:spPr>
      </p:sp>
      <p:sp>
        <p:nvSpPr>
          <p:cNvPr id="11" name="Shape 9"/>
          <p:cNvSpPr/>
          <p:nvPr/>
        </p:nvSpPr>
        <p:spPr>
          <a:xfrm>
            <a:off x="6217920" y="1609344"/>
            <a:ext cx="1005840" cy="182880"/>
          </a:xfrm>
          <a:prstGeom prst="roundRect">
            <a:avLst>
              <a:gd name="adj" fmla="val 50000"/>
            </a:avLst>
          </a:prstGeom>
          <a:solidFill>
            <a:schemeClr val="accent1"/>
          </a:solidFill>
          <a:ln w="12700">
            <a:solidFill>
              <a:schemeClr val="accent1"/>
            </a:solidFill>
            <a:prstDash val="solid"/>
          </a:ln>
        </p:spPr>
      </p:sp>
      <p:sp>
        <p:nvSpPr>
          <p:cNvPr id="12" name="chip"/>
          <p:cNvSpPr/>
          <p:nvPr/>
        </p:nvSpPr>
        <p:spPr>
          <a:xfrm>
            <a:off x="6217920" y="2926080"/>
            <a:ext cx="777240" cy="365760"/>
          </a:xfrm>
          <a:prstGeom prst="roundRect">
            <a:avLst>
              <a:gd name="adj" fmla="val 20000"/>
            </a:avLst>
          </a:prstGeom>
          <a:solidFill>
            <a:schemeClr val="tx2"/>
          </a:solidFill>
          <a:ln w="12700">
            <a:solidFill>
              <a:schemeClr val="accent1"/>
            </a:solidFill>
          </a:ln>
        </p:spPr>
        <p:txBody>
          <a:bodyPr wrap="square" lIns="762" tIns="762" rIns="762" bIns="762" rtlCol="0" anchor="ctr"/>
          <a:lstStyle/>
          <a:p>
            <a:pPr algn="ctr" indent="0" marL="0">
              <a:buNone/>
            </a:pPr>
            <a:r>
              <a:rPr lang="en-US" sz="1200" dirty="0">
                <a:solidFill>
                  <a:schemeClr val="bg1"/>
                </a:solidFill>
              </a:rPr>
              <a:t>Risk</a:t>
            </a:r>
            <a:endParaRPr lang="en-US" sz="1200" dirty="0"/>
          </a:p>
        </p:txBody>
      </p:sp>
      <p:sp>
        <p:nvSpPr>
          <p:cNvPr id="13" name="chip"/>
          <p:cNvSpPr/>
          <p:nvPr/>
        </p:nvSpPr>
        <p:spPr>
          <a:xfrm>
            <a:off x="7086600" y="2926080"/>
            <a:ext cx="777240" cy="365760"/>
          </a:xfrm>
          <a:prstGeom prst="roundRect">
            <a:avLst>
              <a:gd name="adj" fmla="val 20000"/>
            </a:avLst>
          </a:prstGeom>
          <a:solidFill>
            <a:schemeClr val="tx2"/>
          </a:solidFill>
          <a:ln w="12700">
            <a:solidFill>
              <a:schemeClr val="accent1"/>
            </a:solidFill>
          </a:ln>
        </p:spPr>
        <p:txBody>
          <a:bodyPr wrap="square" lIns="762" tIns="762" rIns="762" bIns="762" rtlCol="0" anchor="ctr"/>
          <a:lstStyle/>
          <a:p>
            <a:pPr algn="ctr" indent="0" marL="0">
              <a:buNone/>
            </a:pPr>
            <a:r>
              <a:rPr lang="en-US" sz="1200" dirty="0">
                <a:solidFill>
                  <a:schemeClr val="bg1"/>
                </a:solidFill>
              </a:rPr>
              <a:t>Evidence</a:t>
            </a:r>
            <a:endParaRPr lang="en-US" sz="1200" dirty="0"/>
          </a:p>
        </p:txBody>
      </p:sp>
      <p:sp>
        <p:nvSpPr>
          <p:cNvPr id="14" name="chip"/>
          <p:cNvSpPr/>
          <p:nvPr/>
        </p:nvSpPr>
        <p:spPr>
          <a:xfrm>
            <a:off x="7955280" y="2926080"/>
            <a:ext cx="777240" cy="365760"/>
          </a:xfrm>
          <a:prstGeom prst="roundRect">
            <a:avLst>
              <a:gd name="adj" fmla="val 20000"/>
            </a:avLst>
          </a:prstGeom>
          <a:solidFill>
            <a:schemeClr val="tx2"/>
          </a:solidFill>
          <a:ln w="12700">
            <a:solidFill>
              <a:schemeClr val="accent1"/>
            </a:solidFill>
          </a:ln>
        </p:spPr>
        <p:txBody>
          <a:bodyPr wrap="square" lIns="762" tIns="762" rIns="762" bIns="762" rtlCol="0" anchor="ctr"/>
          <a:lstStyle/>
          <a:p>
            <a:pPr algn="ctr" indent="0" marL="0">
              <a:buNone/>
            </a:pPr>
            <a:r>
              <a:rPr lang="en-US" sz="1200" dirty="0">
                <a:solidFill>
                  <a:schemeClr val="bg1"/>
                </a:solidFill>
              </a:rPr>
              <a:t>Factors</a:t>
            </a:r>
            <a:endParaRPr lang="en-US" sz="1200" dirty="0"/>
          </a:p>
        </p:txBody>
      </p:sp>
      <p:sp>
        <p:nvSpPr>
          <p:cNvPr id="15" name="Text 13"/>
          <p:cNvSpPr txBox="1"/>
          <p:nvPr/>
        </p:nvSpPr>
        <p:spPr>
          <a:xfrm>
            <a:off x="6217920" y="3429000"/>
            <a:ext cx="2560320" cy="457200"/>
          </a:xfrm>
          <a:prstGeom prst="rect">
            <a:avLst/>
          </a:prstGeom>
          <a:noFill/>
          <a:ln/>
        </p:spPr>
        <p:txBody>
          <a:bodyPr wrap="square" lIns="0" tIns="0" rIns="0" bIns="0" rtlCol="0" anchor="t"/>
          <a:lstStyle/>
          <a:p>
            <a:pPr algn="l" indent="0" marL="0">
              <a:buNone/>
            </a:pPr>
            <a:r>
              <a:rPr lang="en-US" sz="1200" dirty="0">
                <a:solidFill>
                  <a:schemeClr val="accent4"/>
                </a:solidFill>
              </a:rPr>
              <a:t>Risk level  +  verbatim evidence  +  contributing factors</a:t>
            </a:r>
            <a:endParaRPr lang="en-US" sz="1200" dirty="0"/>
          </a:p>
        </p:txBody>
      </p:sp>
      <p:sp>
        <p:nvSpPr>
          <p:cNvPr id="17" name="Text 1"/>
          <p:cNvSpPr/>
          <p:nvPr>
            <p:ph idx="101" type="title" hasCustomPrompt="1"/>
          </p:nvPr>
        </p:nvSpPr>
        <p:spPr>
          <a:xfrm>
            <a:off x="548640" y="365760"/>
            <a:ext cx="8046720" cy="914400"/>
          </a:xfrm>
          <a:prstGeom prst="rect">
            <a:avLst/>
          </a:prstGeom>
          <a:noFill/>
          <a:ln/>
        </p:spPr>
        <p:txBody>
          <a:bodyPr wrap="square" lIns="0" tIns="0" rIns="0" bIns="0" rtlCol="0" anchor="ctr"/>
          <a:lstStyle/>
          <a:p>
            <a:pPr algn="l" indent="0" marL="0">
              <a:buNone/>
            </a:pPr>
            <a:endParaRPr lang="en-US" sz="36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Why Explainable Suicide Risk Detection?</a:t>
            </a:r>
            <a:endParaRPr lang="en-US" sz="3000" dirty="0"/>
          </a:p>
        </p:txBody>
      </p:sp>
      <p:sp>
        <p:nvSpPr>
          <p:cNvPr id="3" name="Text 1"/>
          <p:cNvSpPr txBox="1"/>
          <p:nvPr/>
        </p:nvSpPr>
        <p:spPr>
          <a:xfrm>
            <a:off x="457200" y="1188720"/>
            <a:ext cx="4480560" cy="31089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Online mental-health posts contain complex, indirect expressions of risk</a:t>
            </a:r>
            <a:endParaRPr lang="en-US" sz="1600" dirty="0"/>
          </a:p>
          <a:p>
            <a:pPr marL="342900" indent="-342900">
              <a:spcAft>
                <a:spcPts val="600"/>
              </a:spcAft>
              <a:buSzPct val="100000"/>
              <a:buChar char="•"/>
            </a:pPr>
            <a:r>
              <a:rPr lang="en-US" sz="1600" dirty="0">
                <a:solidFill>
                  <a:schemeClr val="tx1"/>
                </a:solidFill>
              </a:rPr>
              <a:t>Posts with similar vocabulary can differ substantially in risk level</a:t>
            </a:r>
            <a:endParaRPr lang="en-US" sz="1600" dirty="0"/>
          </a:p>
          <a:p>
            <a:pPr marL="342900" indent="-342900">
              <a:spcAft>
                <a:spcPts val="600"/>
              </a:spcAft>
              <a:buSzPct val="100000"/>
              <a:buChar char="•"/>
            </a:pPr>
            <a:r>
              <a:rPr lang="en-US" sz="1600" dirty="0">
                <a:solidFill>
                  <a:schemeClr val="tx1"/>
                </a:solidFill>
              </a:rPr>
              <a:t>A label alone is insufficient for human review</a:t>
            </a:r>
            <a:endParaRPr lang="en-US" sz="1600" dirty="0"/>
          </a:p>
          <a:p>
            <a:pPr marL="342900" indent="-342900">
              <a:spcAft>
                <a:spcPts val="600"/>
              </a:spcAft>
              <a:buSzPct val="100000"/>
              <a:buChar char="•"/>
            </a:pPr>
            <a:r>
              <a:rPr lang="en-US" sz="1600" dirty="0">
                <a:solidFill>
                  <a:schemeClr val="tx1"/>
                </a:solidFill>
              </a:rPr>
              <a:t>Evidence-based predictions improve interpretability and auditability</a:t>
            </a:r>
            <a:endParaRPr lang="en-US" sz="1600" dirty="0"/>
          </a:p>
        </p:txBody>
      </p:sp>
      <p:sp>
        <p:nvSpPr>
          <p:cNvPr id="4" name="flow"/>
          <p:cNvSpPr/>
          <p:nvPr/>
        </p:nvSpPr>
        <p:spPr>
          <a:xfrm>
            <a:off x="5669280" y="1097280"/>
            <a:ext cx="2926080" cy="548640"/>
          </a:xfrm>
          <a:prstGeom prst="roundRect">
            <a:avLst>
              <a:gd name="adj" fmla="val 13333"/>
            </a:avLst>
          </a:prstGeom>
          <a:solidFill>
            <a:schemeClr val="bg2"/>
          </a:solidFill>
          <a:ln w="12700">
            <a:solidFill>
              <a:schemeClr val="bg2"/>
            </a:solidFill>
          </a:ln>
        </p:spPr>
        <p:txBody>
          <a:bodyPr wrap="square" lIns="762" tIns="762" rIns="762" bIns="762" rtlCol="0" anchor="ctr"/>
          <a:lstStyle/>
          <a:p>
            <a:pPr algn="ctr" indent="0" marL="0">
              <a:buNone/>
            </a:pPr>
            <a:r>
              <a:rPr lang="en-US" sz="1600" b="1" dirty="0">
                <a:solidFill>
                  <a:schemeClr val="tx1"/>
                </a:solidFill>
              </a:rPr>
              <a:t>Reddit post</a:t>
            </a:r>
            <a:endParaRPr lang="en-US" sz="1600" dirty="0"/>
          </a:p>
        </p:txBody>
      </p:sp>
      <p:sp>
        <p:nvSpPr>
          <p:cNvPr id="5" name="Shape 3"/>
          <p:cNvSpPr/>
          <p:nvPr/>
        </p:nvSpPr>
        <p:spPr>
          <a:xfrm>
            <a:off x="7132320" y="1645920"/>
            <a:ext cx="0" cy="365760"/>
          </a:xfrm>
          <a:prstGeom prst="line">
            <a:avLst/>
          </a:prstGeom>
          <a:noFill/>
          <a:ln w="19050">
            <a:solidFill>
              <a:schemeClr val="accent3"/>
            </a:solidFill>
            <a:prstDash val="solid"/>
            <a:tailEnd type="triangle"/>
          </a:ln>
        </p:spPr>
      </p:sp>
      <p:sp>
        <p:nvSpPr>
          <p:cNvPr id="6" name="flow"/>
          <p:cNvSpPr/>
          <p:nvPr/>
        </p:nvSpPr>
        <p:spPr>
          <a:xfrm>
            <a:off x="5669280" y="2011680"/>
            <a:ext cx="2926080" cy="548640"/>
          </a:xfrm>
          <a:prstGeom prst="roundRect">
            <a:avLst>
              <a:gd name="adj" fmla="val 13333"/>
            </a:avLst>
          </a:prstGeom>
          <a:solidFill>
            <a:schemeClr val="bg2"/>
          </a:solidFill>
          <a:ln w="12700">
            <a:solidFill>
              <a:schemeClr val="bg2"/>
            </a:solidFill>
          </a:ln>
        </p:spPr>
        <p:txBody>
          <a:bodyPr wrap="square" lIns="762" tIns="762" rIns="762" bIns="762" rtlCol="0" anchor="ctr"/>
          <a:lstStyle/>
          <a:p>
            <a:pPr algn="ctr" indent="0" marL="0">
              <a:buNone/>
            </a:pPr>
            <a:r>
              <a:rPr lang="en-US" sz="1600" b="1" dirty="0">
                <a:solidFill>
                  <a:schemeClr val="tx1"/>
                </a:solidFill>
              </a:rPr>
              <a:t>Risk assessment</a:t>
            </a:r>
            <a:endParaRPr lang="en-US" sz="1600" dirty="0"/>
          </a:p>
        </p:txBody>
      </p:sp>
      <p:sp>
        <p:nvSpPr>
          <p:cNvPr id="7" name="Shape 5"/>
          <p:cNvSpPr/>
          <p:nvPr/>
        </p:nvSpPr>
        <p:spPr>
          <a:xfrm>
            <a:off x="7132320" y="2560320"/>
            <a:ext cx="0" cy="365760"/>
          </a:xfrm>
          <a:prstGeom prst="line">
            <a:avLst/>
          </a:prstGeom>
          <a:noFill/>
          <a:ln w="19050">
            <a:solidFill>
              <a:schemeClr val="accent3"/>
            </a:solidFill>
            <a:prstDash val="solid"/>
            <a:tailEnd type="triangle"/>
          </a:ln>
        </p:spPr>
      </p:sp>
      <p:sp>
        <p:nvSpPr>
          <p:cNvPr id="8" name="flow"/>
          <p:cNvSpPr/>
          <p:nvPr/>
        </p:nvSpPr>
        <p:spPr>
          <a:xfrm>
            <a:off x="5669280" y="2926080"/>
            <a:ext cx="2926080" cy="548640"/>
          </a:xfrm>
          <a:prstGeom prst="roundRect">
            <a:avLst>
              <a:gd name="adj" fmla="val 13333"/>
            </a:avLst>
          </a:prstGeom>
          <a:solidFill>
            <a:schemeClr val="bg2"/>
          </a:solidFill>
          <a:ln w="12700">
            <a:solidFill>
              <a:schemeClr val="bg2"/>
            </a:solidFill>
          </a:ln>
        </p:spPr>
        <p:txBody>
          <a:bodyPr wrap="square" lIns="762" tIns="762" rIns="762" bIns="762" rtlCol="0" anchor="ctr"/>
          <a:lstStyle/>
          <a:p>
            <a:pPr algn="ctr" indent="0" marL="0">
              <a:buNone/>
            </a:pPr>
            <a:r>
              <a:rPr lang="en-US" sz="1600" b="1" dirty="0">
                <a:solidFill>
                  <a:schemeClr val="tx1"/>
                </a:solidFill>
              </a:rPr>
              <a:t>Evidence</a:t>
            </a:r>
            <a:endParaRPr lang="en-US" sz="1600" dirty="0"/>
          </a:p>
        </p:txBody>
      </p:sp>
      <p:sp>
        <p:nvSpPr>
          <p:cNvPr id="9" name="Shape 7"/>
          <p:cNvSpPr/>
          <p:nvPr/>
        </p:nvSpPr>
        <p:spPr>
          <a:xfrm>
            <a:off x="7132320" y="3474720"/>
            <a:ext cx="0" cy="365760"/>
          </a:xfrm>
          <a:prstGeom prst="line">
            <a:avLst/>
          </a:prstGeom>
          <a:noFill/>
          <a:ln w="19050">
            <a:solidFill>
              <a:schemeClr val="accent3"/>
            </a:solidFill>
            <a:prstDash val="solid"/>
            <a:tailEnd type="triangle"/>
          </a:ln>
        </p:spPr>
      </p:sp>
      <p:sp>
        <p:nvSpPr>
          <p:cNvPr id="10" name="flow"/>
          <p:cNvSpPr/>
          <p:nvPr/>
        </p:nvSpPr>
        <p:spPr>
          <a:xfrm>
            <a:off x="5669280" y="3840480"/>
            <a:ext cx="2926080" cy="548640"/>
          </a:xfrm>
          <a:prstGeom prst="roundRect">
            <a:avLst>
              <a:gd name="adj" fmla="val 13333"/>
            </a:avLst>
          </a:prstGeom>
          <a:solidFill>
            <a:schemeClr val="accent1"/>
          </a:solidFill>
          <a:ln w="12700">
            <a:solidFill>
              <a:schemeClr val="accent1"/>
            </a:solidFill>
          </a:ln>
        </p:spPr>
        <p:txBody>
          <a:bodyPr wrap="square" lIns="762" tIns="762" rIns="762" bIns="762" rtlCol="0" anchor="ctr"/>
          <a:lstStyle/>
          <a:p>
            <a:pPr algn="ctr" indent="0" marL="0">
              <a:buNone/>
            </a:pPr>
            <a:r>
              <a:rPr lang="en-US" sz="1600" b="1" dirty="0">
                <a:solidFill>
                  <a:schemeClr val="bg1"/>
                </a:solidFill>
              </a:rPr>
              <a:t>Human interpretation</a:t>
            </a:r>
            <a:endParaRPr lang="en-US" sz="16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Challenge Formulation</a:t>
            </a:r>
            <a:endParaRPr lang="en-US" sz="3000" dirty="0"/>
          </a:p>
        </p:txBody>
      </p:sp>
      <p:sp>
        <p:nvSpPr>
          <p:cNvPr id="3" name="card"/>
          <p:cNvSpPr/>
          <p:nvPr/>
        </p:nvSpPr>
        <p:spPr>
          <a:xfrm>
            <a:off x="457200" y="1051560"/>
            <a:ext cx="4023360" cy="1828800"/>
          </a:xfrm>
          <a:prstGeom prst="roundRect">
            <a:avLst>
              <a:gd name="adj" fmla="val 4000"/>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4" name="card"/>
          <p:cNvSpPr/>
          <p:nvPr/>
        </p:nvSpPr>
        <p:spPr>
          <a:xfrm>
            <a:off x="4663440" y="1051560"/>
            <a:ext cx="4023360" cy="1828800"/>
          </a:xfrm>
          <a:prstGeom prst="roundRect">
            <a:avLst>
              <a:gd name="adj" fmla="val 4000"/>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5" name="Text 3"/>
          <p:cNvSpPr txBox="1"/>
          <p:nvPr/>
        </p:nvSpPr>
        <p:spPr>
          <a:xfrm>
            <a:off x="640080" y="1143000"/>
            <a:ext cx="3657600" cy="274320"/>
          </a:xfrm>
          <a:prstGeom prst="rect">
            <a:avLst/>
          </a:prstGeom>
          <a:noFill/>
          <a:ln/>
        </p:spPr>
        <p:txBody>
          <a:bodyPr wrap="square" lIns="0" tIns="0" rIns="0" bIns="0" rtlCol="0" anchor="t"/>
          <a:lstStyle/>
          <a:p>
            <a:pPr algn="l" indent="0" marL="0">
              <a:buNone/>
            </a:pPr>
            <a:r>
              <a:rPr lang="en-US" sz="1200" b="1" dirty="0">
                <a:solidFill>
                  <a:schemeClr val="accent1"/>
                </a:solidFill>
              </a:rPr>
              <a:t>Subtask 1</a:t>
            </a:r>
            <a:endParaRPr lang="en-US" sz="1200" dirty="0"/>
          </a:p>
        </p:txBody>
      </p:sp>
      <p:sp>
        <p:nvSpPr>
          <p:cNvPr id="6" name="Text 4"/>
          <p:cNvSpPr txBox="1"/>
          <p:nvPr/>
        </p:nvSpPr>
        <p:spPr>
          <a:xfrm>
            <a:off x="640080" y="1417320"/>
            <a:ext cx="3657600" cy="548640"/>
          </a:xfrm>
          <a:prstGeom prst="rect">
            <a:avLst/>
          </a:prstGeom>
          <a:noFill/>
          <a:ln/>
        </p:spPr>
        <p:txBody>
          <a:bodyPr wrap="square" lIns="0" tIns="0" rIns="0" bIns="0" rtlCol="0" anchor="t"/>
          <a:lstStyle/>
          <a:p>
            <a:pPr algn="l" indent="0" marL="0">
              <a:buNone/>
            </a:pPr>
            <a:r>
              <a:rPr lang="en-US" sz="1600" b="1" dirty="0">
                <a:solidFill>
                  <a:schemeClr val="tx1"/>
                </a:solidFill>
              </a:rPr>
              <a:t>Risk Classification + Evidence Extraction</a:t>
            </a:r>
            <a:endParaRPr lang="en-US" sz="1600" dirty="0"/>
          </a:p>
        </p:txBody>
      </p:sp>
      <p:sp>
        <p:nvSpPr>
          <p:cNvPr id="7" name="Text 5"/>
          <p:cNvSpPr txBox="1"/>
          <p:nvPr/>
        </p:nvSpPr>
        <p:spPr>
          <a:xfrm>
            <a:off x="640080" y="2011680"/>
            <a:ext cx="3657600" cy="822960"/>
          </a:xfrm>
          <a:prstGeom prst="rect">
            <a:avLst/>
          </a:prstGeom>
          <a:noFill/>
          <a:ln/>
        </p:spPr>
        <p:txBody>
          <a:bodyPr wrap="square" lIns="0" tIns="0" rIns="0" bIns="0" rtlCol="0" anchor="t"/>
          <a:lstStyle/>
          <a:p>
            <a:pPr algn="l" indent="0" marL="0">
              <a:buNone/>
            </a:pPr>
            <a:r>
              <a:rPr lang="en-US" sz="1400" dirty="0">
                <a:solidFill>
                  <a:schemeClr val="tx1"/>
                </a:solidFill>
              </a:rPr>
              <a:t>4 classes: Indicator, Ideation, Behavior, Attempt. Extract verbatim phrases that support the label.</a:t>
            </a:r>
            <a:endParaRPr lang="en-US" sz="1400" dirty="0"/>
          </a:p>
        </p:txBody>
      </p:sp>
      <p:sp>
        <p:nvSpPr>
          <p:cNvPr id="8" name="Text 6"/>
          <p:cNvSpPr txBox="1"/>
          <p:nvPr/>
        </p:nvSpPr>
        <p:spPr>
          <a:xfrm>
            <a:off x="4846320" y="1143000"/>
            <a:ext cx="3657600" cy="274320"/>
          </a:xfrm>
          <a:prstGeom prst="rect">
            <a:avLst/>
          </a:prstGeom>
          <a:noFill/>
          <a:ln/>
        </p:spPr>
        <p:txBody>
          <a:bodyPr wrap="square" lIns="0" tIns="0" rIns="0" bIns="0" rtlCol="0" anchor="t"/>
          <a:lstStyle/>
          <a:p>
            <a:pPr algn="l" indent="0" marL="0">
              <a:buNone/>
            </a:pPr>
            <a:r>
              <a:rPr lang="en-US" sz="1200" b="1" dirty="0">
                <a:solidFill>
                  <a:schemeClr val="accent1"/>
                </a:solidFill>
              </a:rPr>
              <a:t>Subtask 2</a:t>
            </a:r>
            <a:endParaRPr lang="en-US" sz="1200" dirty="0"/>
          </a:p>
        </p:txBody>
      </p:sp>
      <p:sp>
        <p:nvSpPr>
          <p:cNvPr id="9" name="Text 7"/>
          <p:cNvSpPr txBox="1"/>
          <p:nvPr/>
        </p:nvSpPr>
        <p:spPr>
          <a:xfrm>
            <a:off x="4846320" y="1417320"/>
            <a:ext cx="3657600" cy="548640"/>
          </a:xfrm>
          <a:prstGeom prst="rect">
            <a:avLst/>
          </a:prstGeom>
          <a:noFill/>
          <a:ln/>
        </p:spPr>
        <p:txBody>
          <a:bodyPr wrap="square" lIns="0" tIns="0" rIns="0" bIns="0" rtlCol="0" anchor="t"/>
          <a:lstStyle/>
          <a:p>
            <a:pPr algn="l" indent="0" marL="0">
              <a:buNone/>
            </a:pPr>
            <a:r>
              <a:rPr lang="en-US" sz="1600" b="1" dirty="0">
                <a:solidFill>
                  <a:schemeClr val="tx1"/>
                </a:solidFill>
              </a:rPr>
              <a:t>Factor Identification</a:t>
            </a:r>
            <a:endParaRPr lang="en-US" sz="1600" dirty="0"/>
          </a:p>
        </p:txBody>
      </p:sp>
      <p:sp>
        <p:nvSpPr>
          <p:cNvPr id="10" name="Text 8"/>
          <p:cNvSpPr txBox="1"/>
          <p:nvPr/>
        </p:nvSpPr>
        <p:spPr>
          <a:xfrm>
            <a:off x="4846320" y="2011680"/>
            <a:ext cx="3657600" cy="822960"/>
          </a:xfrm>
          <a:prstGeom prst="rect">
            <a:avLst/>
          </a:prstGeom>
          <a:noFill/>
          <a:ln/>
        </p:spPr>
        <p:txBody>
          <a:bodyPr wrap="square" lIns="0" tIns="0" rIns="0" bIns="0" rtlCol="0" anchor="t"/>
          <a:lstStyle/>
          <a:p>
            <a:pPr algn="l" indent="0" marL="0">
              <a:buNone/>
            </a:pPr>
            <a:r>
              <a:rPr lang="en-US" sz="1400" dirty="0">
                <a:solidFill>
                  <a:schemeClr val="tx1"/>
                </a:solidFill>
              </a:rPr>
              <a:t>Multi-label classification over a 24-category taxonomy of suicide-related factors.</a:t>
            </a:r>
            <a:endParaRPr lang="en-US" sz="1400" dirty="0"/>
          </a:p>
        </p:txBody>
      </p:sp>
      <p:sp>
        <p:nvSpPr>
          <p:cNvPr id="11" name="node"/>
          <p:cNvSpPr/>
          <p:nvPr/>
        </p:nvSpPr>
        <p:spPr>
          <a:xfrm>
            <a:off x="457200" y="3474720"/>
            <a:ext cx="1645920" cy="640080"/>
          </a:xfrm>
          <a:prstGeom prst="roundRect">
            <a:avLst>
              <a:gd name="adj" fmla="val 11429"/>
            </a:avLst>
          </a:prstGeom>
          <a:solidFill>
            <a:schemeClr val="tx1"/>
          </a:solidFill>
          <a:ln w="12700">
            <a:solidFill>
              <a:schemeClr val="tx1"/>
            </a:solidFill>
          </a:ln>
        </p:spPr>
        <p:txBody>
          <a:bodyPr wrap="square" lIns="762" tIns="762" rIns="762" bIns="762" rtlCol="0" anchor="ctr"/>
          <a:lstStyle/>
          <a:p>
            <a:pPr algn="ctr" indent="0" marL="0">
              <a:buNone/>
            </a:pPr>
            <a:r>
              <a:rPr lang="en-US" sz="1400" b="1" dirty="0">
                <a:solidFill>
                  <a:schemeClr val="bg1"/>
                </a:solidFill>
              </a:rPr>
              <a:t>Reddit post</a:t>
            </a:r>
            <a:endParaRPr lang="en-US" sz="1400" dirty="0"/>
          </a:p>
        </p:txBody>
      </p:sp>
      <p:sp>
        <p:nvSpPr>
          <p:cNvPr id="12" name="Shape 10"/>
          <p:cNvSpPr/>
          <p:nvPr/>
        </p:nvSpPr>
        <p:spPr>
          <a:xfrm>
            <a:off x="2103120" y="3794760"/>
            <a:ext cx="320040" cy="0"/>
          </a:xfrm>
          <a:prstGeom prst="line">
            <a:avLst/>
          </a:prstGeom>
          <a:noFill/>
          <a:ln w="19050">
            <a:solidFill>
              <a:schemeClr val="accent3"/>
            </a:solidFill>
            <a:prstDash val="solid"/>
            <a:tailEnd type="triangle"/>
          </a:ln>
        </p:spPr>
      </p:sp>
      <p:sp>
        <p:nvSpPr>
          <p:cNvPr id="13" name="Shape 11"/>
          <p:cNvSpPr/>
          <p:nvPr/>
        </p:nvSpPr>
        <p:spPr>
          <a:xfrm>
            <a:off x="2423160" y="3246120"/>
            <a:ext cx="0" cy="548640"/>
          </a:xfrm>
          <a:prstGeom prst="line">
            <a:avLst/>
          </a:prstGeom>
          <a:noFill/>
          <a:ln w="19050">
            <a:solidFill>
              <a:schemeClr val="accent3"/>
            </a:solidFill>
            <a:prstDash val="solid"/>
          </a:ln>
        </p:spPr>
      </p:sp>
      <p:sp>
        <p:nvSpPr>
          <p:cNvPr id="14" name="Shape 12"/>
          <p:cNvSpPr/>
          <p:nvPr/>
        </p:nvSpPr>
        <p:spPr>
          <a:xfrm>
            <a:off x="2423160" y="3246120"/>
            <a:ext cx="4892040" cy="0"/>
          </a:xfrm>
          <a:prstGeom prst="line">
            <a:avLst/>
          </a:prstGeom>
          <a:noFill/>
          <a:ln w="19050">
            <a:solidFill>
              <a:schemeClr val="accent3"/>
            </a:solidFill>
            <a:prstDash val="solid"/>
          </a:ln>
        </p:spPr>
      </p:sp>
      <p:sp>
        <p:nvSpPr>
          <p:cNvPr id="15" name="Shape 13"/>
          <p:cNvSpPr/>
          <p:nvPr/>
        </p:nvSpPr>
        <p:spPr>
          <a:xfrm>
            <a:off x="3657600" y="3246120"/>
            <a:ext cx="0" cy="228600"/>
          </a:xfrm>
          <a:prstGeom prst="line">
            <a:avLst/>
          </a:prstGeom>
          <a:noFill/>
          <a:ln w="19050">
            <a:solidFill>
              <a:schemeClr val="accent3"/>
            </a:solidFill>
            <a:prstDash val="solid"/>
            <a:tailEnd type="triangle"/>
          </a:ln>
        </p:spPr>
      </p:sp>
      <p:sp>
        <p:nvSpPr>
          <p:cNvPr id="16" name="node"/>
          <p:cNvSpPr/>
          <p:nvPr/>
        </p:nvSpPr>
        <p:spPr>
          <a:xfrm>
            <a:off x="2743200" y="3474720"/>
            <a:ext cx="1828800" cy="640080"/>
          </a:xfrm>
          <a:prstGeom prst="roundRect">
            <a:avLst>
              <a:gd name="adj" fmla="val 11429"/>
            </a:avLst>
          </a:prstGeom>
          <a:solidFill>
            <a:schemeClr val="accent2"/>
          </a:solidFill>
          <a:ln w="12700">
            <a:solidFill>
              <a:schemeClr val="accent2"/>
            </a:solidFill>
          </a:ln>
        </p:spPr>
        <p:txBody>
          <a:bodyPr wrap="square" lIns="762" tIns="762" rIns="762" bIns="762" rtlCol="0" anchor="ctr"/>
          <a:lstStyle/>
          <a:p>
            <a:pPr algn="ctr" indent="0" marL="0">
              <a:buNone/>
            </a:pPr>
            <a:r>
              <a:rPr lang="en-US" sz="1400" b="1" dirty="0">
                <a:solidFill>
                  <a:schemeClr val="bg1"/>
                </a:solidFill>
              </a:rPr>
              <a:t>Risk level</a:t>
            </a:r>
            <a:endParaRPr lang="en-US" sz="1400" dirty="0"/>
          </a:p>
        </p:txBody>
      </p:sp>
      <p:sp>
        <p:nvSpPr>
          <p:cNvPr id="17" name="Shape 15"/>
          <p:cNvSpPr/>
          <p:nvPr/>
        </p:nvSpPr>
        <p:spPr>
          <a:xfrm>
            <a:off x="5669280" y="3246120"/>
            <a:ext cx="0" cy="228600"/>
          </a:xfrm>
          <a:prstGeom prst="line">
            <a:avLst/>
          </a:prstGeom>
          <a:noFill/>
          <a:ln w="19050">
            <a:solidFill>
              <a:schemeClr val="accent3"/>
            </a:solidFill>
            <a:prstDash val="solid"/>
            <a:tailEnd type="triangle"/>
          </a:ln>
        </p:spPr>
      </p:sp>
      <p:sp>
        <p:nvSpPr>
          <p:cNvPr id="18" name="node"/>
          <p:cNvSpPr/>
          <p:nvPr/>
        </p:nvSpPr>
        <p:spPr>
          <a:xfrm>
            <a:off x="4754880" y="3474720"/>
            <a:ext cx="1828800" cy="640080"/>
          </a:xfrm>
          <a:prstGeom prst="roundRect">
            <a:avLst>
              <a:gd name="adj" fmla="val 11429"/>
            </a:avLst>
          </a:prstGeom>
          <a:solidFill>
            <a:schemeClr val="accent1"/>
          </a:solidFill>
          <a:ln w="12700">
            <a:solidFill>
              <a:schemeClr val="accent1"/>
            </a:solidFill>
          </a:ln>
        </p:spPr>
        <p:txBody>
          <a:bodyPr wrap="square" lIns="762" tIns="762" rIns="762" bIns="762" rtlCol="0" anchor="ctr"/>
          <a:lstStyle/>
          <a:p>
            <a:pPr algn="ctr" indent="0" marL="0">
              <a:buNone/>
            </a:pPr>
            <a:r>
              <a:rPr lang="en-US" sz="1400" b="1" dirty="0">
                <a:solidFill>
                  <a:schemeClr val="bg1"/>
                </a:solidFill>
              </a:rPr>
              <a:t>Evidence phrase</a:t>
            </a:r>
            <a:endParaRPr lang="en-US" sz="1400" dirty="0"/>
          </a:p>
        </p:txBody>
      </p:sp>
      <p:sp>
        <p:nvSpPr>
          <p:cNvPr id="19" name="Shape 17"/>
          <p:cNvSpPr/>
          <p:nvPr/>
        </p:nvSpPr>
        <p:spPr>
          <a:xfrm>
            <a:off x="7680960" y="3246120"/>
            <a:ext cx="0" cy="228600"/>
          </a:xfrm>
          <a:prstGeom prst="line">
            <a:avLst/>
          </a:prstGeom>
          <a:noFill/>
          <a:ln w="19050">
            <a:solidFill>
              <a:schemeClr val="accent3"/>
            </a:solidFill>
            <a:prstDash val="solid"/>
            <a:tailEnd type="triangle"/>
          </a:ln>
        </p:spPr>
      </p:sp>
      <p:sp>
        <p:nvSpPr>
          <p:cNvPr id="20" name="node"/>
          <p:cNvSpPr/>
          <p:nvPr/>
        </p:nvSpPr>
        <p:spPr>
          <a:xfrm>
            <a:off x="6766560" y="3474720"/>
            <a:ext cx="1828800" cy="640080"/>
          </a:xfrm>
          <a:prstGeom prst="roundRect">
            <a:avLst>
              <a:gd name="adj" fmla="val 11429"/>
            </a:avLst>
          </a:prstGeom>
          <a:solidFill>
            <a:schemeClr val="accent5"/>
          </a:solidFill>
          <a:ln w="12700">
            <a:solidFill>
              <a:schemeClr val="accent5"/>
            </a:solidFill>
          </a:ln>
        </p:spPr>
        <p:txBody>
          <a:bodyPr wrap="square" lIns="762" tIns="762" rIns="762" bIns="762" rtlCol="0" anchor="ctr"/>
          <a:lstStyle/>
          <a:p>
            <a:pPr algn="ctr" indent="0" marL="0">
              <a:buNone/>
            </a:pPr>
            <a:r>
              <a:rPr lang="en-US" sz="1400" b="1" dirty="0">
                <a:solidFill>
                  <a:schemeClr val="bg1"/>
                </a:solidFill>
              </a:rPr>
              <a:t>Suicide-related factors</a:t>
            </a:r>
            <a:endParaRPr lang="en-US" sz="1400" dirty="0"/>
          </a:p>
        </p:txBody>
      </p:sp>
      <p:sp>
        <p:nvSpPr>
          <p:cNvPr id="21" name="Text 19"/>
          <p:cNvSpPr txBox="1"/>
          <p:nvPr/>
        </p:nvSpPr>
        <p:spPr>
          <a:xfrm>
            <a:off x="457200" y="4343400"/>
            <a:ext cx="8229600" cy="274320"/>
          </a:xfrm>
          <a:prstGeom prst="rect">
            <a:avLst/>
          </a:prstGeom>
          <a:noFill/>
          <a:ln/>
        </p:spPr>
        <p:txBody>
          <a:bodyPr wrap="square" lIns="0" tIns="0" rIns="0" bIns="0" rtlCol="0" anchor="t"/>
          <a:lstStyle/>
          <a:p>
            <a:pPr algn="l" indent="0" marL="0">
              <a:buNone/>
            </a:pPr>
            <a:r>
              <a:rPr lang="en-US" sz="1300" dirty="0">
                <a:solidFill>
                  <a:schemeClr val="accent3"/>
                </a:solidFill>
              </a:rPr>
              <a:t>Data: 1,635 labeled training posts  |  502 unlabeled prediction posts</a:t>
            </a:r>
            <a:endParaRPr lang="en-US" sz="13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Dataset and Evaluation Protocol</a:t>
            </a:r>
            <a:endParaRPr lang="en-US" sz="3000" dirty="0"/>
          </a:p>
        </p:txBody>
      </p:sp>
      <p:sp>
        <p:nvSpPr>
          <p:cNvPr id="3" name="step"/>
          <p:cNvSpPr/>
          <p:nvPr/>
        </p:nvSpPr>
        <p:spPr>
          <a:xfrm>
            <a:off x="457200" y="1097280"/>
            <a:ext cx="1371600" cy="640080"/>
          </a:xfrm>
          <a:prstGeom prst="roundRect">
            <a:avLst>
              <a:gd name="adj" fmla="val 11429"/>
            </a:avLst>
          </a:prstGeom>
          <a:solidFill>
            <a:schemeClr val="tx1"/>
          </a:solidFill>
          <a:ln w="12700">
            <a:solidFill>
              <a:schemeClr val="tx1"/>
            </a:solidFill>
          </a:ln>
        </p:spPr>
        <p:txBody>
          <a:bodyPr wrap="square" lIns="762" tIns="762" rIns="762" bIns="762" rtlCol="0" anchor="ctr"/>
          <a:lstStyle/>
          <a:p>
            <a:pPr algn="ctr" indent="0" marL="0">
              <a:buNone/>
            </a:pPr>
            <a:r>
              <a:rPr lang="en-US" sz="1200" b="1" dirty="0">
                <a:solidFill>
                  <a:schemeClr val="bg1"/>
                </a:solidFill>
              </a:rPr>
              <a:t>Reddit posts</a:t>
            </a:r>
            <a:endParaRPr lang="en-US" sz="1200" dirty="0"/>
          </a:p>
        </p:txBody>
      </p:sp>
      <p:sp>
        <p:nvSpPr>
          <p:cNvPr id="4" name="Shape 2"/>
          <p:cNvSpPr/>
          <p:nvPr/>
        </p:nvSpPr>
        <p:spPr>
          <a:xfrm>
            <a:off x="1828800" y="1417320"/>
            <a:ext cx="342900" cy="0"/>
          </a:xfrm>
          <a:prstGeom prst="line">
            <a:avLst/>
          </a:prstGeom>
          <a:noFill/>
          <a:ln w="19050">
            <a:solidFill>
              <a:schemeClr val="accent3"/>
            </a:solidFill>
            <a:prstDash val="solid"/>
            <a:tailEnd type="triangle"/>
          </a:ln>
        </p:spPr>
      </p:sp>
      <p:sp>
        <p:nvSpPr>
          <p:cNvPr id="5" name="step"/>
          <p:cNvSpPr/>
          <p:nvPr/>
        </p:nvSpPr>
        <p:spPr>
          <a:xfrm>
            <a:off x="2171700" y="1097280"/>
            <a:ext cx="1371600" cy="640080"/>
          </a:xfrm>
          <a:prstGeom prst="roundRect">
            <a:avLst>
              <a:gd name="adj" fmla="val 11429"/>
            </a:avLst>
          </a:prstGeom>
          <a:solidFill>
            <a:schemeClr val="bg2"/>
          </a:solidFill>
          <a:ln w="12700">
            <a:solidFill>
              <a:schemeClr val="bg2"/>
            </a:solidFill>
          </a:ln>
        </p:spPr>
        <p:txBody>
          <a:bodyPr wrap="square" lIns="762" tIns="762" rIns="762" bIns="762" rtlCol="0" anchor="ctr"/>
          <a:lstStyle/>
          <a:p>
            <a:pPr algn="ctr" indent="0" marL="0">
              <a:buNone/>
            </a:pPr>
            <a:r>
              <a:rPr lang="en-US" sz="1200" b="1" dirty="0">
                <a:solidFill>
                  <a:schemeClr val="tx1"/>
                </a:solidFill>
              </a:rPr>
              <a:t>Cleaning</a:t>
            </a:r>
            <a:endParaRPr lang="en-US" sz="1200" dirty="0"/>
          </a:p>
        </p:txBody>
      </p:sp>
      <p:sp>
        <p:nvSpPr>
          <p:cNvPr id="6" name="Shape 4"/>
          <p:cNvSpPr/>
          <p:nvPr/>
        </p:nvSpPr>
        <p:spPr>
          <a:xfrm>
            <a:off x="3543300" y="1417320"/>
            <a:ext cx="342900" cy="0"/>
          </a:xfrm>
          <a:prstGeom prst="line">
            <a:avLst/>
          </a:prstGeom>
          <a:noFill/>
          <a:ln w="19050">
            <a:solidFill>
              <a:schemeClr val="accent3"/>
            </a:solidFill>
            <a:prstDash val="solid"/>
            <a:tailEnd type="triangle"/>
          </a:ln>
        </p:spPr>
      </p:sp>
      <p:sp>
        <p:nvSpPr>
          <p:cNvPr id="7" name="step"/>
          <p:cNvSpPr/>
          <p:nvPr/>
        </p:nvSpPr>
        <p:spPr>
          <a:xfrm>
            <a:off x="3886200" y="1097280"/>
            <a:ext cx="1371600" cy="640080"/>
          </a:xfrm>
          <a:prstGeom prst="roundRect">
            <a:avLst>
              <a:gd name="adj" fmla="val 11429"/>
            </a:avLst>
          </a:prstGeom>
          <a:solidFill>
            <a:schemeClr val="bg2"/>
          </a:solidFill>
          <a:ln w="12700">
            <a:solidFill>
              <a:schemeClr val="bg2"/>
            </a:solidFill>
          </a:ln>
        </p:spPr>
        <p:txBody>
          <a:bodyPr wrap="square" lIns="762" tIns="762" rIns="762" bIns="762" rtlCol="0" anchor="ctr"/>
          <a:lstStyle/>
          <a:p>
            <a:pPr algn="ctr" indent="0" marL="0">
              <a:buNone/>
            </a:pPr>
            <a:r>
              <a:rPr lang="en-US" sz="1200" b="1" dirty="0">
                <a:solidFill>
                  <a:schemeClr val="tx1"/>
                </a:solidFill>
              </a:rPr>
              <a:t>Leakage check (by user)</a:t>
            </a:r>
            <a:endParaRPr lang="en-US" sz="1200" dirty="0"/>
          </a:p>
        </p:txBody>
      </p:sp>
      <p:sp>
        <p:nvSpPr>
          <p:cNvPr id="8" name="Shape 6"/>
          <p:cNvSpPr/>
          <p:nvPr/>
        </p:nvSpPr>
        <p:spPr>
          <a:xfrm>
            <a:off x="5257800" y="1417320"/>
            <a:ext cx="342900" cy="0"/>
          </a:xfrm>
          <a:prstGeom prst="line">
            <a:avLst/>
          </a:prstGeom>
          <a:noFill/>
          <a:ln w="19050">
            <a:solidFill>
              <a:schemeClr val="accent3"/>
            </a:solidFill>
            <a:prstDash val="solid"/>
            <a:tailEnd type="triangle"/>
          </a:ln>
        </p:spPr>
      </p:sp>
      <p:sp>
        <p:nvSpPr>
          <p:cNvPr id="9" name="step"/>
          <p:cNvSpPr/>
          <p:nvPr/>
        </p:nvSpPr>
        <p:spPr>
          <a:xfrm>
            <a:off x="5600700" y="1097280"/>
            <a:ext cx="1371600" cy="640080"/>
          </a:xfrm>
          <a:prstGeom prst="roundRect">
            <a:avLst>
              <a:gd name="adj" fmla="val 11429"/>
            </a:avLst>
          </a:prstGeom>
          <a:solidFill>
            <a:schemeClr val="bg2"/>
          </a:solidFill>
          <a:ln w="12700">
            <a:solidFill>
              <a:schemeClr val="bg2"/>
            </a:solidFill>
          </a:ln>
        </p:spPr>
        <p:txBody>
          <a:bodyPr wrap="square" lIns="762" tIns="762" rIns="762" bIns="762" rtlCol="0" anchor="ctr"/>
          <a:lstStyle/>
          <a:p>
            <a:pPr algn="ctr" indent="0" marL="0">
              <a:buNone/>
            </a:pPr>
            <a:r>
              <a:rPr lang="en-US" sz="1200" b="1" dirty="0">
                <a:solidFill>
                  <a:schemeClr val="tx1"/>
                </a:solidFill>
              </a:rPr>
              <a:t>20% held-out split</a:t>
            </a:r>
            <a:endParaRPr lang="en-US" sz="1200" dirty="0"/>
          </a:p>
        </p:txBody>
      </p:sp>
      <p:sp>
        <p:nvSpPr>
          <p:cNvPr id="10" name="Shape 8"/>
          <p:cNvSpPr/>
          <p:nvPr/>
        </p:nvSpPr>
        <p:spPr>
          <a:xfrm>
            <a:off x="6972300" y="1417320"/>
            <a:ext cx="342900" cy="0"/>
          </a:xfrm>
          <a:prstGeom prst="line">
            <a:avLst/>
          </a:prstGeom>
          <a:noFill/>
          <a:ln w="19050">
            <a:solidFill>
              <a:schemeClr val="accent3"/>
            </a:solidFill>
            <a:prstDash val="solid"/>
            <a:tailEnd type="triangle"/>
          </a:ln>
        </p:spPr>
      </p:sp>
      <p:sp>
        <p:nvSpPr>
          <p:cNvPr id="11" name="step"/>
          <p:cNvSpPr/>
          <p:nvPr/>
        </p:nvSpPr>
        <p:spPr>
          <a:xfrm>
            <a:off x="7315200" y="1097280"/>
            <a:ext cx="1371600" cy="640080"/>
          </a:xfrm>
          <a:prstGeom prst="roundRect">
            <a:avLst>
              <a:gd name="adj" fmla="val 11429"/>
            </a:avLst>
          </a:prstGeom>
          <a:solidFill>
            <a:schemeClr val="bg2"/>
          </a:solidFill>
          <a:ln w="12700">
            <a:solidFill>
              <a:schemeClr val="bg2"/>
            </a:solidFill>
          </a:ln>
        </p:spPr>
        <p:txBody>
          <a:bodyPr wrap="square" lIns="762" tIns="762" rIns="762" bIns="762" rtlCol="0" anchor="ctr"/>
          <a:lstStyle/>
          <a:p>
            <a:pPr algn="ctr" indent="0" marL="0">
              <a:buNone/>
            </a:pPr>
            <a:r>
              <a:rPr lang="en-US" sz="1200" b="1" dirty="0">
                <a:solidFill>
                  <a:schemeClr val="tx1"/>
                </a:solidFill>
              </a:rPr>
              <a:t>5-fold grouped CV</a:t>
            </a:r>
            <a:endParaRPr lang="en-US" sz="1200" dirty="0"/>
          </a:p>
        </p:txBody>
      </p:sp>
      <p:sp>
        <p:nvSpPr>
          <p:cNvPr id="12" name="Shape 10"/>
          <p:cNvSpPr/>
          <p:nvPr/>
        </p:nvSpPr>
        <p:spPr>
          <a:xfrm>
            <a:off x="7543800" y="1737360"/>
            <a:ext cx="0" cy="274320"/>
          </a:xfrm>
          <a:prstGeom prst="line">
            <a:avLst/>
          </a:prstGeom>
          <a:noFill/>
          <a:ln w="19050">
            <a:solidFill>
              <a:schemeClr val="accent3"/>
            </a:solidFill>
            <a:prstDash val="solid"/>
            <a:tailEnd type="triangle"/>
          </a:ln>
        </p:spPr>
      </p:sp>
      <p:sp>
        <p:nvSpPr>
          <p:cNvPr id="13" name="step"/>
          <p:cNvSpPr/>
          <p:nvPr/>
        </p:nvSpPr>
        <p:spPr>
          <a:xfrm>
            <a:off x="7315200" y="2011680"/>
            <a:ext cx="1371600" cy="640080"/>
          </a:xfrm>
          <a:prstGeom prst="roundRect">
            <a:avLst>
              <a:gd name="adj" fmla="val 11429"/>
            </a:avLst>
          </a:prstGeom>
          <a:solidFill>
            <a:schemeClr val="bg2"/>
          </a:solidFill>
          <a:ln w="12700">
            <a:solidFill>
              <a:schemeClr val="bg2"/>
            </a:solidFill>
          </a:ln>
        </p:spPr>
        <p:txBody>
          <a:bodyPr wrap="square" lIns="762" tIns="762" rIns="762" bIns="762" rtlCol="0" anchor="ctr"/>
          <a:lstStyle/>
          <a:p>
            <a:pPr algn="ctr" indent="0" marL="0">
              <a:buNone/>
            </a:pPr>
            <a:r>
              <a:rPr lang="en-US" sz="1200" b="1" dirty="0">
                <a:solidFill>
                  <a:schemeClr val="tx1"/>
                </a:solidFill>
              </a:rPr>
              <a:t>Fine-tune models</a:t>
            </a:r>
            <a:endParaRPr lang="en-US" sz="1200" dirty="0"/>
          </a:p>
        </p:txBody>
      </p:sp>
      <p:sp>
        <p:nvSpPr>
          <p:cNvPr id="14" name="Shape 12"/>
          <p:cNvSpPr/>
          <p:nvPr/>
        </p:nvSpPr>
        <p:spPr>
          <a:xfrm flipH="1">
            <a:off x="6972300" y="2331720"/>
            <a:ext cx="342900" cy="0"/>
          </a:xfrm>
          <a:prstGeom prst="line">
            <a:avLst/>
          </a:prstGeom>
          <a:noFill/>
          <a:ln w="19050">
            <a:solidFill>
              <a:schemeClr val="accent3"/>
            </a:solidFill>
            <a:prstDash val="solid"/>
            <a:tailEnd type="triangle"/>
          </a:ln>
        </p:spPr>
      </p:sp>
      <p:sp>
        <p:nvSpPr>
          <p:cNvPr id="15" name="step"/>
          <p:cNvSpPr/>
          <p:nvPr/>
        </p:nvSpPr>
        <p:spPr>
          <a:xfrm>
            <a:off x="5600700" y="2011680"/>
            <a:ext cx="1371600" cy="640080"/>
          </a:xfrm>
          <a:prstGeom prst="roundRect">
            <a:avLst>
              <a:gd name="adj" fmla="val 11429"/>
            </a:avLst>
          </a:prstGeom>
          <a:solidFill>
            <a:schemeClr val="bg2"/>
          </a:solidFill>
          <a:ln w="12700">
            <a:solidFill>
              <a:schemeClr val="bg2"/>
            </a:solidFill>
          </a:ln>
        </p:spPr>
        <p:txBody>
          <a:bodyPr wrap="square" lIns="762" tIns="762" rIns="762" bIns="762" rtlCol="0" anchor="ctr"/>
          <a:lstStyle/>
          <a:p>
            <a:pPr algn="ctr" indent="0" marL="0">
              <a:buNone/>
            </a:pPr>
            <a:r>
              <a:rPr lang="en-US" sz="1200" b="1" dirty="0">
                <a:solidFill>
                  <a:schemeClr val="tx1"/>
                </a:solidFill>
              </a:rPr>
              <a:t>Out-of-fold (OOF) predictions</a:t>
            </a:r>
            <a:endParaRPr lang="en-US" sz="1200" dirty="0"/>
          </a:p>
        </p:txBody>
      </p:sp>
      <p:sp>
        <p:nvSpPr>
          <p:cNvPr id="16" name="Shape 14"/>
          <p:cNvSpPr/>
          <p:nvPr/>
        </p:nvSpPr>
        <p:spPr>
          <a:xfrm flipH="1">
            <a:off x="5257800" y="2331720"/>
            <a:ext cx="342900" cy="0"/>
          </a:xfrm>
          <a:prstGeom prst="line">
            <a:avLst/>
          </a:prstGeom>
          <a:noFill/>
          <a:ln w="19050">
            <a:solidFill>
              <a:schemeClr val="accent3"/>
            </a:solidFill>
            <a:prstDash val="solid"/>
            <a:tailEnd type="triangle"/>
          </a:ln>
        </p:spPr>
      </p:sp>
      <p:sp>
        <p:nvSpPr>
          <p:cNvPr id="17" name="step"/>
          <p:cNvSpPr/>
          <p:nvPr/>
        </p:nvSpPr>
        <p:spPr>
          <a:xfrm>
            <a:off x="3886200" y="2011680"/>
            <a:ext cx="1371600" cy="640080"/>
          </a:xfrm>
          <a:prstGeom prst="roundRect">
            <a:avLst>
              <a:gd name="adj" fmla="val 11429"/>
            </a:avLst>
          </a:prstGeom>
          <a:solidFill>
            <a:schemeClr val="bg2"/>
          </a:solidFill>
          <a:ln w="12700">
            <a:solidFill>
              <a:schemeClr val="bg2"/>
            </a:solidFill>
          </a:ln>
        </p:spPr>
        <p:txBody>
          <a:bodyPr wrap="square" lIns="762" tIns="762" rIns="762" bIns="762" rtlCol="0" anchor="ctr"/>
          <a:lstStyle/>
          <a:p>
            <a:pPr algn="ctr" indent="0" marL="0">
              <a:buNone/>
            </a:pPr>
            <a:r>
              <a:rPr lang="en-US" sz="1200" b="1" dirty="0">
                <a:solidFill>
                  <a:schemeClr val="tx1"/>
                </a:solidFill>
              </a:rPr>
              <a:t>Tune blend + thresholds</a:t>
            </a:r>
            <a:endParaRPr lang="en-US" sz="1200" dirty="0"/>
          </a:p>
        </p:txBody>
      </p:sp>
      <p:sp>
        <p:nvSpPr>
          <p:cNvPr id="18" name="Shape 16"/>
          <p:cNvSpPr/>
          <p:nvPr/>
        </p:nvSpPr>
        <p:spPr>
          <a:xfrm flipH="1">
            <a:off x="3543300" y="2331720"/>
            <a:ext cx="342900" cy="0"/>
          </a:xfrm>
          <a:prstGeom prst="line">
            <a:avLst/>
          </a:prstGeom>
          <a:noFill/>
          <a:ln w="19050">
            <a:solidFill>
              <a:schemeClr val="accent3"/>
            </a:solidFill>
            <a:prstDash val="solid"/>
            <a:tailEnd type="triangle"/>
          </a:ln>
        </p:spPr>
      </p:sp>
      <p:sp>
        <p:nvSpPr>
          <p:cNvPr id="19" name="step"/>
          <p:cNvSpPr/>
          <p:nvPr/>
        </p:nvSpPr>
        <p:spPr>
          <a:xfrm>
            <a:off x="2171700" y="2011680"/>
            <a:ext cx="1371600" cy="640080"/>
          </a:xfrm>
          <a:prstGeom prst="roundRect">
            <a:avLst>
              <a:gd name="adj" fmla="val 11429"/>
            </a:avLst>
          </a:prstGeom>
          <a:solidFill>
            <a:schemeClr val="bg2"/>
          </a:solidFill>
          <a:ln w="12700">
            <a:solidFill>
              <a:schemeClr val="bg2"/>
            </a:solidFill>
          </a:ln>
        </p:spPr>
        <p:txBody>
          <a:bodyPr wrap="square" lIns="762" tIns="762" rIns="762" bIns="762" rtlCol="0" anchor="ctr"/>
          <a:lstStyle/>
          <a:p>
            <a:pPr algn="ctr" indent="0" marL="0">
              <a:buNone/>
            </a:pPr>
            <a:r>
              <a:rPr lang="en-US" sz="1200" b="1" dirty="0">
                <a:solidFill>
                  <a:schemeClr val="tx1"/>
                </a:solidFill>
              </a:rPr>
              <a:t>Score held-out once</a:t>
            </a:r>
            <a:endParaRPr lang="en-US" sz="1200" dirty="0"/>
          </a:p>
        </p:txBody>
      </p:sp>
      <p:sp>
        <p:nvSpPr>
          <p:cNvPr id="20" name="Shape 18"/>
          <p:cNvSpPr/>
          <p:nvPr/>
        </p:nvSpPr>
        <p:spPr>
          <a:xfrm flipH="1">
            <a:off x="1828800" y="2331720"/>
            <a:ext cx="342900" cy="0"/>
          </a:xfrm>
          <a:prstGeom prst="line">
            <a:avLst/>
          </a:prstGeom>
          <a:noFill/>
          <a:ln w="19050">
            <a:solidFill>
              <a:schemeClr val="accent3"/>
            </a:solidFill>
            <a:prstDash val="solid"/>
            <a:tailEnd type="triangle"/>
          </a:ln>
        </p:spPr>
      </p:sp>
      <p:sp>
        <p:nvSpPr>
          <p:cNvPr id="21" name="step"/>
          <p:cNvSpPr/>
          <p:nvPr/>
        </p:nvSpPr>
        <p:spPr>
          <a:xfrm>
            <a:off x="457200" y="2011680"/>
            <a:ext cx="1371600" cy="640080"/>
          </a:xfrm>
          <a:prstGeom prst="roundRect">
            <a:avLst>
              <a:gd name="adj" fmla="val 11429"/>
            </a:avLst>
          </a:prstGeom>
          <a:solidFill>
            <a:schemeClr val="accent1"/>
          </a:solidFill>
          <a:ln w="12700">
            <a:solidFill>
              <a:schemeClr val="accent1"/>
            </a:solidFill>
          </a:ln>
        </p:spPr>
        <p:txBody>
          <a:bodyPr wrap="square" lIns="762" tIns="762" rIns="762" bIns="762" rtlCol="0" anchor="ctr"/>
          <a:lstStyle/>
          <a:p>
            <a:pPr algn="ctr" indent="0" marL="0">
              <a:buNone/>
            </a:pPr>
            <a:r>
              <a:rPr lang="en-US" sz="1200" b="1" dirty="0">
                <a:solidFill>
                  <a:schemeClr val="bg1"/>
                </a:solidFill>
              </a:rPr>
              <a:t>Final output</a:t>
            </a:r>
            <a:endParaRPr lang="en-US" sz="1200" dirty="0"/>
          </a:p>
        </p:txBody>
      </p:sp>
      <p:sp>
        <p:nvSpPr>
          <p:cNvPr id="22" name="stat"/>
          <p:cNvSpPr/>
          <p:nvPr/>
        </p:nvSpPr>
        <p:spPr>
          <a:xfrm>
            <a:off x="457200" y="3017520"/>
            <a:ext cx="1920240" cy="1463040"/>
          </a:xfrm>
          <a:prstGeom prst="roundRect">
            <a:avLst>
              <a:gd name="adj" fmla="val 5000"/>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23" name="Text 21"/>
          <p:cNvSpPr txBox="1"/>
          <p:nvPr/>
        </p:nvSpPr>
        <p:spPr>
          <a:xfrm>
            <a:off x="548640" y="3108960"/>
            <a:ext cx="1737360" cy="640080"/>
          </a:xfrm>
          <a:prstGeom prst="rect">
            <a:avLst/>
          </a:prstGeom>
          <a:noFill/>
          <a:ln/>
        </p:spPr>
        <p:txBody>
          <a:bodyPr wrap="square" lIns="0" tIns="0" rIns="0" bIns="0" rtlCol="0" anchor="t"/>
          <a:lstStyle/>
          <a:p>
            <a:pPr algn="ctr" indent="0" marL="0">
              <a:buNone/>
            </a:pPr>
            <a:r>
              <a:rPr lang="en-US" sz="3600" b="1" dirty="0">
                <a:solidFill>
                  <a:schemeClr val="accent1"/>
                </a:solidFill>
              </a:rPr>
              <a:t>1,635</a:t>
            </a:r>
            <a:endParaRPr lang="en-US" sz="3600" dirty="0"/>
          </a:p>
        </p:txBody>
      </p:sp>
      <p:sp>
        <p:nvSpPr>
          <p:cNvPr id="24" name="Text 22"/>
          <p:cNvSpPr txBox="1"/>
          <p:nvPr/>
        </p:nvSpPr>
        <p:spPr>
          <a:xfrm>
            <a:off x="594360" y="3794760"/>
            <a:ext cx="1645920" cy="594360"/>
          </a:xfrm>
          <a:prstGeom prst="rect">
            <a:avLst/>
          </a:prstGeom>
          <a:noFill/>
          <a:ln/>
        </p:spPr>
        <p:txBody>
          <a:bodyPr wrap="square" lIns="0" tIns="0" rIns="0" bIns="0" rtlCol="0" anchor="t"/>
          <a:lstStyle/>
          <a:p>
            <a:pPr algn="ctr" indent="0" marL="0">
              <a:buNone/>
            </a:pPr>
            <a:r>
              <a:rPr lang="en-US" sz="1200" dirty="0">
                <a:solidFill>
                  <a:schemeClr val="tx1"/>
                </a:solidFill>
              </a:rPr>
              <a:t>labeled posts, 153 users</a:t>
            </a:r>
            <a:endParaRPr lang="en-US" sz="1200" dirty="0"/>
          </a:p>
        </p:txBody>
      </p:sp>
      <p:sp>
        <p:nvSpPr>
          <p:cNvPr id="25" name="stat"/>
          <p:cNvSpPr/>
          <p:nvPr/>
        </p:nvSpPr>
        <p:spPr>
          <a:xfrm>
            <a:off x="2560320" y="3017520"/>
            <a:ext cx="1920240" cy="1463040"/>
          </a:xfrm>
          <a:prstGeom prst="roundRect">
            <a:avLst>
              <a:gd name="adj" fmla="val 5000"/>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26" name="Text 24"/>
          <p:cNvSpPr txBox="1"/>
          <p:nvPr/>
        </p:nvSpPr>
        <p:spPr>
          <a:xfrm>
            <a:off x="2651760" y="3108960"/>
            <a:ext cx="1737360" cy="640080"/>
          </a:xfrm>
          <a:prstGeom prst="rect">
            <a:avLst/>
          </a:prstGeom>
          <a:noFill/>
          <a:ln/>
        </p:spPr>
        <p:txBody>
          <a:bodyPr wrap="square" lIns="0" tIns="0" rIns="0" bIns="0" rtlCol="0" anchor="t"/>
          <a:lstStyle/>
          <a:p>
            <a:pPr algn="ctr" indent="0" marL="0">
              <a:buNone/>
            </a:pPr>
            <a:r>
              <a:rPr lang="en-US" sz="3600" b="1" dirty="0">
                <a:solidFill>
                  <a:schemeClr val="accent1"/>
                </a:solidFill>
              </a:rPr>
              <a:t>1,305</a:t>
            </a:r>
            <a:endParaRPr lang="en-US" sz="3600" dirty="0"/>
          </a:p>
        </p:txBody>
      </p:sp>
      <p:sp>
        <p:nvSpPr>
          <p:cNvPr id="27" name="Text 25"/>
          <p:cNvSpPr txBox="1"/>
          <p:nvPr/>
        </p:nvSpPr>
        <p:spPr>
          <a:xfrm>
            <a:off x="2697480" y="3794760"/>
            <a:ext cx="1645920" cy="594360"/>
          </a:xfrm>
          <a:prstGeom prst="rect">
            <a:avLst/>
          </a:prstGeom>
          <a:noFill/>
          <a:ln/>
        </p:spPr>
        <p:txBody>
          <a:bodyPr wrap="square" lIns="0" tIns="0" rIns="0" bIns="0" rtlCol="0" anchor="t"/>
          <a:lstStyle/>
          <a:p>
            <a:pPr algn="ctr" indent="0" marL="0">
              <a:buNone/>
            </a:pPr>
            <a:r>
              <a:rPr lang="en-US" sz="1200" dirty="0">
                <a:solidFill>
                  <a:schemeClr val="tx1"/>
                </a:solidFill>
              </a:rPr>
              <a:t>development posts, 121 users</a:t>
            </a:r>
            <a:endParaRPr lang="en-US" sz="1200" dirty="0"/>
          </a:p>
        </p:txBody>
      </p:sp>
      <p:sp>
        <p:nvSpPr>
          <p:cNvPr id="28" name="stat"/>
          <p:cNvSpPr/>
          <p:nvPr/>
        </p:nvSpPr>
        <p:spPr>
          <a:xfrm>
            <a:off x="4663440" y="3017520"/>
            <a:ext cx="1920240" cy="1463040"/>
          </a:xfrm>
          <a:prstGeom prst="roundRect">
            <a:avLst>
              <a:gd name="adj" fmla="val 5000"/>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29" name="Text 27"/>
          <p:cNvSpPr txBox="1"/>
          <p:nvPr/>
        </p:nvSpPr>
        <p:spPr>
          <a:xfrm>
            <a:off x="4754880" y="3108960"/>
            <a:ext cx="1737360" cy="640080"/>
          </a:xfrm>
          <a:prstGeom prst="rect">
            <a:avLst/>
          </a:prstGeom>
          <a:noFill/>
          <a:ln/>
        </p:spPr>
        <p:txBody>
          <a:bodyPr wrap="square" lIns="0" tIns="0" rIns="0" bIns="0" rtlCol="0" anchor="t"/>
          <a:lstStyle/>
          <a:p>
            <a:pPr algn="ctr" indent="0" marL="0">
              <a:buNone/>
            </a:pPr>
            <a:r>
              <a:rPr lang="en-US" sz="3600" b="1" dirty="0">
                <a:solidFill>
                  <a:schemeClr val="accent1"/>
                </a:solidFill>
              </a:rPr>
              <a:t>330</a:t>
            </a:r>
            <a:endParaRPr lang="en-US" sz="3600" dirty="0"/>
          </a:p>
        </p:txBody>
      </p:sp>
      <p:sp>
        <p:nvSpPr>
          <p:cNvPr id="30" name="Text 28"/>
          <p:cNvSpPr txBox="1"/>
          <p:nvPr/>
        </p:nvSpPr>
        <p:spPr>
          <a:xfrm>
            <a:off x="4800600" y="3794760"/>
            <a:ext cx="1645920" cy="594360"/>
          </a:xfrm>
          <a:prstGeom prst="rect">
            <a:avLst/>
          </a:prstGeom>
          <a:noFill/>
          <a:ln/>
        </p:spPr>
        <p:txBody>
          <a:bodyPr wrap="square" lIns="0" tIns="0" rIns="0" bIns="0" rtlCol="0" anchor="t"/>
          <a:lstStyle/>
          <a:p>
            <a:pPr algn="ctr" indent="0" marL="0">
              <a:buNone/>
            </a:pPr>
            <a:r>
              <a:rPr lang="en-US" sz="1200" dirty="0">
                <a:solidFill>
                  <a:schemeClr val="tx1"/>
                </a:solidFill>
              </a:rPr>
              <a:t>held-out posts, 32 users</a:t>
            </a:r>
            <a:endParaRPr lang="en-US" sz="1200" dirty="0"/>
          </a:p>
        </p:txBody>
      </p:sp>
      <p:sp>
        <p:nvSpPr>
          <p:cNvPr id="31" name="stat"/>
          <p:cNvSpPr/>
          <p:nvPr/>
        </p:nvSpPr>
        <p:spPr>
          <a:xfrm>
            <a:off x="6766560" y="3017520"/>
            <a:ext cx="1920240" cy="1463040"/>
          </a:xfrm>
          <a:prstGeom prst="roundRect">
            <a:avLst>
              <a:gd name="adj" fmla="val 5000"/>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32" name="Text 30"/>
          <p:cNvSpPr txBox="1"/>
          <p:nvPr/>
        </p:nvSpPr>
        <p:spPr>
          <a:xfrm>
            <a:off x="6858000" y="3108960"/>
            <a:ext cx="1737360" cy="640080"/>
          </a:xfrm>
          <a:prstGeom prst="rect">
            <a:avLst/>
          </a:prstGeom>
          <a:noFill/>
          <a:ln/>
        </p:spPr>
        <p:txBody>
          <a:bodyPr wrap="square" lIns="0" tIns="0" rIns="0" bIns="0" rtlCol="0" anchor="t"/>
          <a:lstStyle/>
          <a:p>
            <a:pPr algn="ctr" indent="0" marL="0">
              <a:buNone/>
            </a:pPr>
            <a:r>
              <a:rPr lang="en-US" sz="3600" b="1" dirty="0">
                <a:solidFill>
                  <a:schemeClr val="accent1"/>
                </a:solidFill>
              </a:rPr>
              <a:t>24</a:t>
            </a:r>
            <a:endParaRPr lang="en-US" sz="3600" dirty="0"/>
          </a:p>
        </p:txBody>
      </p:sp>
      <p:sp>
        <p:nvSpPr>
          <p:cNvPr id="33" name="Text 31"/>
          <p:cNvSpPr txBox="1"/>
          <p:nvPr/>
        </p:nvSpPr>
        <p:spPr>
          <a:xfrm>
            <a:off x="6903720" y="3794760"/>
            <a:ext cx="1645920" cy="594360"/>
          </a:xfrm>
          <a:prstGeom prst="rect">
            <a:avLst/>
          </a:prstGeom>
          <a:noFill/>
          <a:ln/>
        </p:spPr>
        <p:txBody>
          <a:bodyPr wrap="square" lIns="0" tIns="0" rIns="0" bIns="0" rtlCol="0" anchor="t"/>
          <a:lstStyle/>
          <a:p>
            <a:pPr algn="ctr" indent="0" marL="0">
              <a:buNone/>
            </a:pPr>
            <a:r>
              <a:rPr lang="en-US" sz="1200" dirty="0">
                <a:solidFill>
                  <a:schemeClr val="tx1"/>
                </a:solidFill>
              </a:rPr>
              <a:t>factor categories</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Proposed Explainable Detection Framework</a:t>
            </a:r>
            <a:endParaRPr lang="en-US" sz="3000" dirty="0"/>
          </a:p>
        </p:txBody>
      </p:sp>
      <p:sp>
        <p:nvSpPr>
          <p:cNvPr id="3" name="node"/>
          <p:cNvSpPr/>
          <p:nvPr/>
        </p:nvSpPr>
        <p:spPr>
          <a:xfrm>
            <a:off x="3291840" y="960120"/>
            <a:ext cx="2560320" cy="347472"/>
          </a:xfrm>
          <a:prstGeom prst="roundRect">
            <a:avLst>
              <a:gd name="adj" fmla="val 21053"/>
            </a:avLst>
          </a:prstGeom>
          <a:solidFill>
            <a:schemeClr val="tx1"/>
          </a:solidFill>
          <a:ln w="12700">
            <a:solidFill>
              <a:schemeClr val="tx1"/>
            </a:solidFill>
          </a:ln>
        </p:spPr>
        <p:txBody>
          <a:bodyPr wrap="square" lIns="762" tIns="762" rIns="762" bIns="762" rtlCol="0" anchor="ctr"/>
          <a:lstStyle/>
          <a:p>
            <a:pPr algn="ctr" indent="0" marL="0">
              <a:buNone/>
            </a:pPr>
            <a:r>
              <a:rPr lang="en-US" sz="1200" b="1" dirty="0">
                <a:solidFill>
                  <a:schemeClr val="bg1"/>
                </a:solidFill>
              </a:rPr>
              <a:t>INPUT: Reddit post</a:t>
            </a:r>
            <a:endParaRPr lang="en-US" sz="1200" dirty="0"/>
          </a:p>
        </p:txBody>
      </p:sp>
      <p:sp>
        <p:nvSpPr>
          <p:cNvPr id="4" name="Shape 2"/>
          <p:cNvSpPr/>
          <p:nvPr/>
        </p:nvSpPr>
        <p:spPr>
          <a:xfrm>
            <a:off x="4572000" y="1307592"/>
            <a:ext cx="0" cy="155448"/>
          </a:xfrm>
          <a:prstGeom prst="line">
            <a:avLst/>
          </a:prstGeom>
          <a:noFill/>
          <a:ln w="19050">
            <a:solidFill>
              <a:schemeClr val="accent3"/>
            </a:solidFill>
            <a:prstDash val="solid"/>
            <a:tailEnd type="triangle"/>
          </a:ln>
        </p:spPr>
      </p:sp>
      <p:sp>
        <p:nvSpPr>
          <p:cNvPr id="5" name="node"/>
          <p:cNvSpPr/>
          <p:nvPr/>
        </p:nvSpPr>
        <p:spPr>
          <a:xfrm>
            <a:off x="3291840" y="1463040"/>
            <a:ext cx="2560320" cy="347472"/>
          </a:xfrm>
          <a:prstGeom prst="roundRect">
            <a:avLst>
              <a:gd name="adj" fmla="val 21053"/>
            </a:avLst>
          </a:prstGeom>
          <a:solidFill>
            <a:schemeClr val="bg2"/>
          </a:solidFill>
          <a:ln w="12700">
            <a:solidFill>
              <a:schemeClr val="accent6"/>
            </a:solidFill>
          </a:ln>
        </p:spPr>
        <p:txBody>
          <a:bodyPr wrap="square" lIns="762" tIns="762" rIns="762" bIns="762" rtlCol="0" anchor="ctr"/>
          <a:lstStyle/>
          <a:p>
            <a:pPr algn="ctr" indent="0" marL="0">
              <a:buNone/>
            </a:pPr>
            <a:r>
              <a:rPr lang="en-US" sz="1200" dirty="0">
                <a:solidFill>
                  <a:schemeClr val="tx1"/>
                </a:solidFill>
              </a:rPr>
              <a:t>Cleaning + user-grouped split</a:t>
            </a:r>
            <a:endParaRPr lang="en-US" sz="1200" dirty="0"/>
          </a:p>
        </p:txBody>
      </p:sp>
      <p:sp>
        <p:nvSpPr>
          <p:cNvPr id="6" name="Shape 4"/>
          <p:cNvSpPr/>
          <p:nvPr/>
        </p:nvSpPr>
        <p:spPr>
          <a:xfrm>
            <a:off x="4572000" y="1810512"/>
            <a:ext cx="0" cy="128016"/>
          </a:xfrm>
          <a:prstGeom prst="line">
            <a:avLst/>
          </a:prstGeom>
          <a:noFill/>
          <a:ln w="19050">
            <a:solidFill>
              <a:schemeClr val="accent3"/>
            </a:solidFill>
            <a:prstDash val="solid"/>
            <a:tailEnd type="triangle"/>
          </a:ln>
        </p:spPr>
      </p:sp>
      <p:sp>
        <p:nvSpPr>
          <p:cNvPr id="7" name="Shape 5"/>
          <p:cNvSpPr/>
          <p:nvPr/>
        </p:nvSpPr>
        <p:spPr>
          <a:xfrm>
            <a:off x="1737360" y="1938528"/>
            <a:ext cx="5669280" cy="0"/>
          </a:xfrm>
          <a:prstGeom prst="line">
            <a:avLst/>
          </a:prstGeom>
          <a:noFill/>
          <a:ln w="19050">
            <a:solidFill>
              <a:schemeClr val="accent3"/>
            </a:solidFill>
            <a:prstDash val="solid"/>
          </a:ln>
        </p:spPr>
      </p:sp>
      <p:sp>
        <p:nvSpPr>
          <p:cNvPr id="8" name="Shape 6"/>
          <p:cNvSpPr/>
          <p:nvPr/>
        </p:nvSpPr>
        <p:spPr>
          <a:xfrm>
            <a:off x="1737360" y="1938528"/>
            <a:ext cx="0" cy="164592"/>
          </a:xfrm>
          <a:prstGeom prst="line">
            <a:avLst/>
          </a:prstGeom>
          <a:noFill/>
          <a:ln w="19050">
            <a:solidFill>
              <a:schemeClr val="accent3"/>
            </a:solidFill>
            <a:prstDash val="solid"/>
            <a:tailEnd type="triangle"/>
          </a:ln>
        </p:spPr>
      </p:sp>
      <p:sp>
        <p:nvSpPr>
          <p:cNvPr id="9" name="feat"/>
          <p:cNvSpPr/>
          <p:nvPr/>
        </p:nvSpPr>
        <p:spPr>
          <a:xfrm>
            <a:off x="457200" y="2103120"/>
            <a:ext cx="2560320" cy="502920"/>
          </a:xfrm>
          <a:prstGeom prst="roundRect">
            <a:avLst>
              <a:gd name="adj" fmla="val 14545"/>
            </a:avLst>
          </a:prstGeom>
          <a:solidFill>
            <a:schemeClr val="bg2"/>
          </a:solidFill>
          <a:ln w="12700">
            <a:solidFill>
              <a:schemeClr val="accent6"/>
            </a:solidFill>
          </a:ln>
        </p:spPr>
        <p:txBody>
          <a:bodyPr wrap="square" lIns="762" tIns="762" rIns="762" bIns="762" rtlCol="0" anchor="ctr"/>
          <a:lstStyle/>
          <a:p>
            <a:pPr algn="ctr" indent="0" marL="0">
              <a:buNone/>
            </a:pPr>
            <a:r>
              <a:rPr lang="en-US" sz="1200" dirty="0">
                <a:solidFill>
                  <a:schemeClr val="tx1"/>
                </a:solidFill>
              </a:rPr>
              <a:t>MentalRoBERTa, 5 fold models + TF-IDF member</a:t>
            </a:r>
            <a:endParaRPr lang="en-US" sz="1200" dirty="0"/>
          </a:p>
        </p:txBody>
      </p:sp>
      <p:sp>
        <p:nvSpPr>
          <p:cNvPr id="10" name="Shape 8"/>
          <p:cNvSpPr/>
          <p:nvPr/>
        </p:nvSpPr>
        <p:spPr>
          <a:xfrm>
            <a:off x="1737360" y="2606040"/>
            <a:ext cx="0" cy="182880"/>
          </a:xfrm>
          <a:prstGeom prst="line">
            <a:avLst/>
          </a:prstGeom>
          <a:noFill/>
          <a:ln w="19050">
            <a:solidFill>
              <a:schemeClr val="accent3"/>
            </a:solidFill>
            <a:prstDash val="solid"/>
            <a:tailEnd type="triangle"/>
          </a:ln>
        </p:spPr>
      </p:sp>
      <p:sp>
        <p:nvSpPr>
          <p:cNvPr id="11" name="model"/>
          <p:cNvSpPr/>
          <p:nvPr/>
        </p:nvSpPr>
        <p:spPr>
          <a:xfrm>
            <a:off x="457200" y="2788920"/>
            <a:ext cx="2560320" cy="502920"/>
          </a:xfrm>
          <a:prstGeom prst="roundRect">
            <a:avLst>
              <a:gd name="adj" fmla="val 14545"/>
            </a:avLst>
          </a:prstGeom>
          <a:solidFill>
            <a:schemeClr val="accent6"/>
          </a:solidFill>
          <a:ln w="12700">
            <a:solidFill>
              <a:schemeClr val="accent6"/>
            </a:solidFill>
          </a:ln>
        </p:spPr>
        <p:txBody>
          <a:bodyPr wrap="square" lIns="762" tIns="762" rIns="762" bIns="762" rtlCol="0" anchor="ctr"/>
          <a:lstStyle/>
          <a:p>
            <a:pPr algn="ctr" indent="0" marL="0">
              <a:buNone/>
            </a:pPr>
            <a:r>
              <a:rPr lang="en-US" sz="1200" dirty="0">
                <a:solidFill>
                  <a:schemeClr val="tx1"/>
                </a:solidFill>
              </a:rPr>
              <a:t>Blend (w = 0.20, chosen on OOF)</a:t>
            </a:r>
            <a:endParaRPr lang="en-US" sz="1200" dirty="0"/>
          </a:p>
        </p:txBody>
      </p:sp>
      <p:sp>
        <p:nvSpPr>
          <p:cNvPr id="12" name="Shape 10"/>
          <p:cNvSpPr/>
          <p:nvPr/>
        </p:nvSpPr>
        <p:spPr>
          <a:xfrm>
            <a:off x="1737360" y="3291840"/>
            <a:ext cx="0" cy="182880"/>
          </a:xfrm>
          <a:prstGeom prst="line">
            <a:avLst/>
          </a:prstGeom>
          <a:noFill/>
          <a:ln w="19050">
            <a:solidFill>
              <a:schemeClr val="accent3"/>
            </a:solidFill>
            <a:prstDash val="solid"/>
            <a:tailEnd type="triangle"/>
          </a:ln>
        </p:spPr>
      </p:sp>
      <p:sp>
        <p:nvSpPr>
          <p:cNvPr id="13" name="out"/>
          <p:cNvSpPr/>
          <p:nvPr/>
        </p:nvSpPr>
        <p:spPr>
          <a:xfrm>
            <a:off x="457200" y="3474720"/>
            <a:ext cx="2560320" cy="457200"/>
          </a:xfrm>
          <a:prstGeom prst="roundRect">
            <a:avLst>
              <a:gd name="adj" fmla="val 16000"/>
            </a:avLst>
          </a:prstGeom>
          <a:solidFill>
            <a:schemeClr val="accent2"/>
          </a:solidFill>
          <a:ln w="12700">
            <a:solidFill>
              <a:schemeClr val="accent2"/>
            </a:solidFill>
          </a:ln>
        </p:spPr>
        <p:txBody>
          <a:bodyPr wrap="square" lIns="762" tIns="762" rIns="762" bIns="762" rtlCol="0" anchor="ctr"/>
          <a:lstStyle/>
          <a:p>
            <a:pPr algn="ctr" indent="0" marL="0">
              <a:buNone/>
            </a:pPr>
            <a:r>
              <a:rPr lang="en-US" sz="1200" b="1" dirty="0">
                <a:solidFill>
                  <a:schemeClr val="bg1"/>
                </a:solidFill>
              </a:rPr>
              <a:t>Risk level</a:t>
            </a:r>
            <a:endParaRPr lang="en-US" sz="1200" dirty="0"/>
          </a:p>
        </p:txBody>
      </p:sp>
      <p:sp>
        <p:nvSpPr>
          <p:cNvPr id="14" name="Shape 12"/>
          <p:cNvSpPr/>
          <p:nvPr/>
        </p:nvSpPr>
        <p:spPr>
          <a:xfrm>
            <a:off x="1737360" y="3931920"/>
            <a:ext cx="0" cy="137160"/>
          </a:xfrm>
          <a:prstGeom prst="line">
            <a:avLst/>
          </a:prstGeom>
          <a:noFill/>
          <a:ln w="19050">
            <a:solidFill>
              <a:schemeClr val="accent3"/>
            </a:solidFill>
            <a:prstDash val="solid"/>
            <a:tailEnd type="triangle"/>
          </a:ln>
        </p:spPr>
      </p:sp>
      <p:sp>
        <p:nvSpPr>
          <p:cNvPr id="15" name="Shape 13"/>
          <p:cNvSpPr/>
          <p:nvPr/>
        </p:nvSpPr>
        <p:spPr>
          <a:xfrm>
            <a:off x="4572000" y="1938528"/>
            <a:ext cx="0" cy="164592"/>
          </a:xfrm>
          <a:prstGeom prst="line">
            <a:avLst/>
          </a:prstGeom>
          <a:noFill/>
          <a:ln w="19050">
            <a:solidFill>
              <a:schemeClr val="accent3"/>
            </a:solidFill>
            <a:prstDash val="solid"/>
            <a:tailEnd type="triangle"/>
          </a:ln>
        </p:spPr>
      </p:sp>
      <p:sp>
        <p:nvSpPr>
          <p:cNvPr id="16" name="feat"/>
          <p:cNvSpPr/>
          <p:nvPr/>
        </p:nvSpPr>
        <p:spPr>
          <a:xfrm>
            <a:off x="3291840" y="2103120"/>
            <a:ext cx="2560320" cy="502920"/>
          </a:xfrm>
          <a:prstGeom prst="roundRect">
            <a:avLst>
              <a:gd name="adj" fmla="val 14545"/>
            </a:avLst>
          </a:prstGeom>
          <a:solidFill>
            <a:schemeClr val="bg2"/>
          </a:solidFill>
          <a:ln w="12700">
            <a:solidFill>
              <a:schemeClr val="accent6"/>
            </a:solidFill>
          </a:ln>
        </p:spPr>
        <p:txBody>
          <a:bodyPr wrap="square" lIns="762" tIns="762" rIns="762" bIns="762" rtlCol="0" anchor="ctr"/>
          <a:lstStyle/>
          <a:p>
            <a:pPr algn="ctr" indent="0" marL="0">
              <a:buNone/>
            </a:pPr>
            <a:r>
              <a:rPr lang="en-US" sz="1200" dirty="0">
                <a:solidFill>
                  <a:schemeClr val="tx1"/>
                </a:solidFill>
              </a:rPr>
              <a:t>LLM proposes 1–3 spans (post + predicted risk)</a:t>
            </a:r>
            <a:endParaRPr lang="en-US" sz="1200" dirty="0"/>
          </a:p>
        </p:txBody>
      </p:sp>
      <p:sp>
        <p:nvSpPr>
          <p:cNvPr id="17" name="Shape 15"/>
          <p:cNvSpPr/>
          <p:nvPr/>
        </p:nvSpPr>
        <p:spPr>
          <a:xfrm>
            <a:off x="4572000" y="2606040"/>
            <a:ext cx="0" cy="182880"/>
          </a:xfrm>
          <a:prstGeom prst="line">
            <a:avLst/>
          </a:prstGeom>
          <a:noFill/>
          <a:ln w="19050">
            <a:solidFill>
              <a:schemeClr val="accent3"/>
            </a:solidFill>
            <a:prstDash val="solid"/>
            <a:tailEnd type="triangle"/>
          </a:ln>
        </p:spPr>
      </p:sp>
      <p:sp>
        <p:nvSpPr>
          <p:cNvPr id="18" name="model"/>
          <p:cNvSpPr/>
          <p:nvPr/>
        </p:nvSpPr>
        <p:spPr>
          <a:xfrm>
            <a:off x="3291840" y="2788920"/>
            <a:ext cx="2560320" cy="502920"/>
          </a:xfrm>
          <a:prstGeom prst="roundRect">
            <a:avLst>
              <a:gd name="adj" fmla="val 14545"/>
            </a:avLst>
          </a:prstGeom>
          <a:solidFill>
            <a:schemeClr val="accent6"/>
          </a:solidFill>
          <a:ln w="12700">
            <a:solidFill>
              <a:schemeClr val="accent6"/>
            </a:solidFill>
          </a:ln>
        </p:spPr>
        <p:txBody>
          <a:bodyPr wrap="square" lIns="762" tIns="762" rIns="762" bIns="762" rtlCol="0" anchor="ctr"/>
          <a:lstStyle/>
          <a:p>
            <a:pPr algn="ctr" indent="0" marL="0">
              <a:buNone/>
            </a:pPr>
            <a:r>
              <a:rPr lang="en-US" sz="1200" dirty="0">
                <a:solidFill>
                  <a:schemeClr val="tx1"/>
                </a:solidFill>
              </a:rPr>
              <a:t>Keep only exact matches in the post</a:t>
            </a:r>
            <a:endParaRPr lang="en-US" sz="1200" dirty="0"/>
          </a:p>
        </p:txBody>
      </p:sp>
      <p:sp>
        <p:nvSpPr>
          <p:cNvPr id="19" name="Shape 17"/>
          <p:cNvSpPr/>
          <p:nvPr/>
        </p:nvSpPr>
        <p:spPr>
          <a:xfrm>
            <a:off x="4572000" y="3291840"/>
            <a:ext cx="0" cy="182880"/>
          </a:xfrm>
          <a:prstGeom prst="line">
            <a:avLst/>
          </a:prstGeom>
          <a:noFill/>
          <a:ln w="19050">
            <a:solidFill>
              <a:schemeClr val="accent3"/>
            </a:solidFill>
            <a:prstDash val="solid"/>
            <a:tailEnd type="triangle"/>
          </a:ln>
        </p:spPr>
      </p:sp>
      <p:sp>
        <p:nvSpPr>
          <p:cNvPr id="20" name="out"/>
          <p:cNvSpPr/>
          <p:nvPr/>
        </p:nvSpPr>
        <p:spPr>
          <a:xfrm>
            <a:off x="3291840" y="3474720"/>
            <a:ext cx="2560320" cy="457200"/>
          </a:xfrm>
          <a:prstGeom prst="roundRect">
            <a:avLst>
              <a:gd name="adj" fmla="val 16000"/>
            </a:avLst>
          </a:prstGeom>
          <a:solidFill>
            <a:schemeClr val="accent1"/>
          </a:solidFill>
          <a:ln w="12700">
            <a:solidFill>
              <a:schemeClr val="accent1"/>
            </a:solidFill>
          </a:ln>
        </p:spPr>
        <p:txBody>
          <a:bodyPr wrap="square" lIns="762" tIns="762" rIns="762" bIns="762" rtlCol="0" anchor="ctr"/>
          <a:lstStyle/>
          <a:p>
            <a:pPr algn="ctr" indent="0" marL="0">
              <a:buNone/>
            </a:pPr>
            <a:r>
              <a:rPr lang="en-US" sz="1200" b="1" dirty="0">
                <a:solidFill>
                  <a:schemeClr val="bg1"/>
                </a:solidFill>
              </a:rPr>
              <a:t>Verbatim evidence</a:t>
            </a:r>
            <a:endParaRPr lang="en-US" sz="1200" dirty="0"/>
          </a:p>
        </p:txBody>
      </p:sp>
      <p:sp>
        <p:nvSpPr>
          <p:cNvPr id="21" name="Shape 19"/>
          <p:cNvSpPr/>
          <p:nvPr/>
        </p:nvSpPr>
        <p:spPr>
          <a:xfrm>
            <a:off x="4572000" y="3931920"/>
            <a:ext cx="0" cy="137160"/>
          </a:xfrm>
          <a:prstGeom prst="line">
            <a:avLst/>
          </a:prstGeom>
          <a:noFill/>
          <a:ln w="19050">
            <a:solidFill>
              <a:schemeClr val="accent3"/>
            </a:solidFill>
            <a:prstDash val="solid"/>
            <a:tailEnd type="triangle"/>
          </a:ln>
        </p:spPr>
      </p:sp>
      <p:sp>
        <p:nvSpPr>
          <p:cNvPr id="22" name="Shape 20"/>
          <p:cNvSpPr/>
          <p:nvPr/>
        </p:nvSpPr>
        <p:spPr>
          <a:xfrm>
            <a:off x="7406640" y="1938528"/>
            <a:ext cx="0" cy="164592"/>
          </a:xfrm>
          <a:prstGeom prst="line">
            <a:avLst/>
          </a:prstGeom>
          <a:noFill/>
          <a:ln w="19050">
            <a:solidFill>
              <a:schemeClr val="accent3"/>
            </a:solidFill>
            <a:prstDash val="solid"/>
            <a:tailEnd type="triangle"/>
          </a:ln>
        </p:spPr>
      </p:sp>
      <p:sp>
        <p:nvSpPr>
          <p:cNvPr id="23" name="feat"/>
          <p:cNvSpPr/>
          <p:nvPr/>
        </p:nvSpPr>
        <p:spPr>
          <a:xfrm>
            <a:off x="6126480" y="2103120"/>
            <a:ext cx="2560320" cy="502920"/>
          </a:xfrm>
          <a:prstGeom prst="roundRect">
            <a:avLst>
              <a:gd name="adj" fmla="val 14545"/>
            </a:avLst>
          </a:prstGeom>
          <a:solidFill>
            <a:schemeClr val="bg2"/>
          </a:solidFill>
          <a:ln w="12700">
            <a:solidFill>
              <a:schemeClr val="accent6"/>
            </a:solidFill>
          </a:ln>
        </p:spPr>
        <p:txBody>
          <a:bodyPr wrap="square" lIns="762" tIns="762" rIns="762" bIns="762" rtlCol="0" anchor="ctr"/>
          <a:lstStyle/>
          <a:p>
            <a:pPr algn="ctr" indent="0" marL="0">
              <a:buNone/>
            </a:pPr>
            <a:r>
              <a:rPr lang="en-US" sz="1200" dirty="0">
                <a:solidFill>
                  <a:schemeClr val="tx1"/>
                </a:solidFill>
              </a:rPr>
              <a:t>MentalRoBERTa multi-label (24 outputs)</a:t>
            </a:r>
            <a:endParaRPr lang="en-US" sz="1200" dirty="0"/>
          </a:p>
        </p:txBody>
      </p:sp>
      <p:sp>
        <p:nvSpPr>
          <p:cNvPr id="24" name="Shape 22"/>
          <p:cNvSpPr/>
          <p:nvPr/>
        </p:nvSpPr>
        <p:spPr>
          <a:xfrm>
            <a:off x="7406640" y="2606040"/>
            <a:ext cx="0" cy="182880"/>
          </a:xfrm>
          <a:prstGeom prst="line">
            <a:avLst/>
          </a:prstGeom>
          <a:noFill/>
          <a:ln w="19050">
            <a:solidFill>
              <a:schemeClr val="accent3"/>
            </a:solidFill>
            <a:prstDash val="solid"/>
            <a:tailEnd type="triangle"/>
          </a:ln>
        </p:spPr>
      </p:sp>
      <p:sp>
        <p:nvSpPr>
          <p:cNvPr id="25" name="model"/>
          <p:cNvSpPr/>
          <p:nvPr/>
        </p:nvSpPr>
        <p:spPr>
          <a:xfrm>
            <a:off x="6126480" y="2788920"/>
            <a:ext cx="2560320" cy="502920"/>
          </a:xfrm>
          <a:prstGeom prst="roundRect">
            <a:avLst>
              <a:gd name="adj" fmla="val 14545"/>
            </a:avLst>
          </a:prstGeom>
          <a:solidFill>
            <a:schemeClr val="accent6"/>
          </a:solidFill>
          <a:ln w="12700">
            <a:solidFill>
              <a:schemeClr val="accent6"/>
            </a:solidFill>
          </a:ln>
        </p:spPr>
        <p:txBody>
          <a:bodyPr wrap="square" lIns="762" tIns="762" rIns="762" bIns="762" rtlCol="0" anchor="ctr"/>
          <a:lstStyle/>
          <a:p>
            <a:pPr algn="ctr" indent="0" marL="0">
              <a:buNone/>
            </a:pPr>
            <a:r>
              <a:rPr lang="en-US" sz="1200" dirty="0">
                <a:solidFill>
                  <a:schemeClr val="tx1"/>
                </a:solidFill>
              </a:rPr>
              <a:t>Per-factor thresholds tuned on OOF</a:t>
            </a:r>
            <a:endParaRPr lang="en-US" sz="1200" dirty="0"/>
          </a:p>
        </p:txBody>
      </p:sp>
      <p:sp>
        <p:nvSpPr>
          <p:cNvPr id="26" name="Shape 24"/>
          <p:cNvSpPr/>
          <p:nvPr/>
        </p:nvSpPr>
        <p:spPr>
          <a:xfrm>
            <a:off x="7406640" y="3291840"/>
            <a:ext cx="0" cy="182880"/>
          </a:xfrm>
          <a:prstGeom prst="line">
            <a:avLst/>
          </a:prstGeom>
          <a:noFill/>
          <a:ln w="19050">
            <a:solidFill>
              <a:schemeClr val="accent3"/>
            </a:solidFill>
            <a:prstDash val="solid"/>
            <a:tailEnd type="triangle"/>
          </a:ln>
        </p:spPr>
      </p:sp>
      <p:sp>
        <p:nvSpPr>
          <p:cNvPr id="27" name="out"/>
          <p:cNvSpPr/>
          <p:nvPr/>
        </p:nvSpPr>
        <p:spPr>
          <a:xfrm>
            <a:off x="6126480" y="3474720"/>
            <a:ext cx="2560320" cy="457200"/>
          </a:xfrm>
          <a:prstGeom prst="roundRect">
            <a:avLst>
              <a:gd name="adj" fmla="val 16000"/>
            </a:avLst>
          </a:prstGeom>
          <a:solidFill>
            <a:schemeClr val="accent5"/>
          </a:solidFill>
          <a:ln w="12700">
            <a:solidFill>
              <a:schemeClr val="accent5"/>
            </a:solidFill>
          </a:ln>
        </p:spPr>
        <p:txBody>
          <a:bodyPr wrap="square" lIns="762" tIns="762" rIns="762" bIns="762" rtlCol="0" anchor="ctr"/>
          <a:lstStyle/>
          <a:p>
            <a:pPr algn="ctr" indent="0" marL="0">
              <a:buNone/>
            </a:pPr>
            <a:r>
              <a:rPr lang="en-US" sz="1200" b="1" dirty="0">
                <a:solidFill>
                  <a:schemeClr val="bg1"/>
                </a:solidFill>
              </a:rPr>
              <a:t>Risk factors (24 categories)</a:t>
            </a:r>
            <a:endParaRPr lang="en-US" sz="1200" dirty="0"/>
          </a:p>
        </p:txBody>
      </p:sp>
      <p:sp>
        <p:nvSpPr>
          <p:cNvPr id="28" name="Shape 26"/>
          <p:cNvSpPr/>
          <p:nvPr/>
        </p:nvSpPr>
        <p:spPr>
          <a:xfrm>
            <a:off x="7406640" y="3931920"/>
            <a:ext cx="0" cy="137160"/>
          </a:xfrm>
          <a:prstGeom prst="line">
            <a:avLst/>
          </a:prstGeom>
          <a:noFill/>
          <a:ln w="19050">
            <a:solidFill>
              <a:schemeClr val="accent3"/>
            </a:solidFill>
            <a:prstDash val="solid"/>
            <a:tailEnd type="triangle"/>
          </a:ln>
        </p:spPr>
      </p:sp>
      <p:sp>
        <p:nvSpPr>
          <p:cNvPr id="29" name="Shape 27"/>
          <p:cNvSpPr/>
          <p:nvPr/>
        </p:nvSpPr>
        <p:spPr>
          <a:xfrm>
            <a:off x="1737360" y="4069080"/>
            <a:ext cx="5669280" cy="0"/>
          </a:xfrm>
          <a:prstGeom prst="line">
            <a:avLst/>
          </a:prstGeom>
          <a:noFill/>
          <a:ln w="19050">
            <a:solidFill>
              <a:schemeClr val="accent3"/>
            </a:solidFill>
            <a:prstDash val="solid"/>
          </a:ln>
        </p:spPr>
      </p:sp>
      <p:sp>
        <p:nvSpPr>
          <p:cNvPr id="30" name="Shape 28"/>
          <p:cNvSpPr/>
          <p:nvPr/>
        </p:nvSpPr>
        <p:spPr>
          <a:xfrm>
            <a:off x="4572000" y="4069080"/>
            <a:ext cx="0" cy="118872"/>
          </a:xfrm>
          <a:prstGeom prst="line">
            <a:avLst/>
          </a:prstGeom>
          <a:noFill/>
          <a:ln w="19050">
            <a:solidFill>
              <a:schemeClr val="accent3"/>
            </a:solidFill>
            <a:prstDash val="solid"/>
            <a:tailEnd type="triangle"/>
          </a:ln>
        </p:spPr>
      </p:sp>
      <p:sp>
        <p:nvSpPr>
          <p:cNvPr id="31" name="node"/>
          <p:cNvSpPr/>
          <p:nvPr/>
        </p:nvSpPr>
        <p:spPr>
          <a:xfrm>
            <a:off x="2834640" y="4187952"/>
            <a:ext cx="3474720" cy="411480"/>
          </a:xfrm>
          <a:prstGeom prst="roundRect">
            <a:avLst>
              <a:gd name="adj" fmla="val 17778"/>
            </a:avLst>
          </a:prstGeom>
          <a:solidFill>
            <a:schemeClr val="tx1"/>
          </a:solidFill>
          <a:ln w="12700">
            <a:solidFill>
              <a:schemeClr val="tx1"/>
            </a:solidFill>
          </a:ln>
        </p:spPr>
        <p:txBody>
          <a:bodyPr wrap="square" lIns="762" tIns="762" rIns="762" bIns="762" rtlCol="0" anchor="ctr"/>
          <a:lstStyle/>
          <a:p>
            <a:pPr algn="ctr" indent="0" marL="0">
              <a:buNone/>
            </a:pPr>
            <a:r>
              <a:rPr lang="en-US" sz="1400" b="1" dirty="0">
                <a:solidFill>
                  <a:schemeClr val="bg1"/>
                </a:solidFill>
              </a:rPr>
              <a:t>EXPLAINABLE OUTPUT</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Modeling Strategy</a:t>
            </a:r>
            <a:endParaRPr lang="en-US" sz="3000" dirty="0"/>
          </a:p>
        </p:txBody>
      </p:sp>
      <p:sp>
        <p:nvSpPr>
          <p:cNvPr id="3" name="card"/>
          <p:cNvSpPr/>
          <p:nvPr/>
        </p:nvSpPr>
        <p:spPr>
          <a:xfrm>
            <a:off x="457200" y="1097280"/>
            <a:ext cx="2560320" cy="2743200"/>
          </a:xfrm>
          <a:prstGeom prst="roundRect">
            <a:avLst>
              <a:gd name="adj" fmla="val 2857"/>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4" name="Shape 2"/>
          <p:cNvSpPr/>
          <p:nvPr/>
        </p:nvSpPr>
        <p:spPr>
          <a:xfrm>
            <a:off x="594360" y="1234440"/>
            <a:ext cx="320040" cy="320040"/>
          </a:xfrm>
          <a:prstGeom prst="roundRect">
            <a:avLst>
              <a:gd name="adj" fmla="val 48571"/>
            </a:avLst>
          </a:prstGeom>
          <a:solidFill>
            <a:schemeClr val="accent2"/>
          </a:solidFill>
          <a:ln w="12700">
            <a:solidFill>
              <a:schemeClr val="accent2"/>
            </a:solidFill>
            <a:prstDash val="solid"/>
          </a:ln>
        </p:spPr>
      </p:sp>
      <p:sp>
        <p:nvSpPr>
          <p:cNvPr id="5" name="Text 3"/>
          <p:cNvSpPr txBox="1"/>
          <p:nvPr/>
        </p:nvSpPr>
        <p:spPr>
          <a:xfrm>
            <a:off x="1005840" y="1234440"/>
            <a:ext cx="1920240" cy="320040"/>
          </a:xfrm>
          <a:prstGeom prst="rect">
            <a:avLst/>
          </a:prstGeom>
          <a:noFill/>
          <a:ln/>
        </p:spPr>
        <p:txBody>
          <a:bodyPr wrap="square" lIns="0" tIns="0" rIns="0" bIns="0" rtlCol="0" anchor="ctr"/>
          <a:lstStyle/>
          <a:p>
            <a:pPr algn="l" indent="0" marL="0">
              <a:buNone/>
            </a:pPr>
            <a:r>
              <a:rPr lang="en-US" sz="1500" b="1" dirty="0">
                <a:solidFill>
                  <a:schemeClr val="tx1"/>
                </a:solidFill>
              </a:rPr>
              <a:t>Risk Classification</a:t>
            </a:r>
            <a:endParaRPr lang="en-US" sz="1500" dirty="0"/>
          </a:p>
        </p:txBody>
      </p:sp>
      <p:sp>
        <p:nvSpPr>
          <p:cNvPr id="6" name="Text 4"/>
          <p:cNvSpPr txBox="1"/>
          <p:nvPr/>
        </p:nvSpPr>
        <p:spPr>
          <a:xfrm>
            <a:off x="594360" y="1691640"/>
            <a:ext cx="2286000" cy="640080"/>
          </a:xfrm>
          <a:prstGeom prst="rect">
            <a:avLst/>
          </a:prstGeom>
          <a:noFill/>
          <a:ln/>
        </p:spPr>
        <p:txBody>
          <a:bodyPr wrap="square" lIns="0" tIns="0" rIns="0" bIns="0" rtlCol="0" anchor="t"/>
          <a:lstStyle/>
          <a:p>
            <a:pPr algn="l" indent="0" marL="0">
              <a:buNone/>
            </a:pPr>
            <a:r>
              <a:rPr lang="en-US" sz="1300" b="1" dirty="0">
                <a:solidFill>
                  <a:schemeClr val="accent3"/>
                </a:solidFill>
              </a:rPr>
              <a:t>MentalRoBERTa (fine-tuned) + TF-IDF</a:t>
            </a:r>
            <a:endParaRPr lang="en-US" sz="1300" dirty="0"/>
          </a:p>
        </p:txBody>
      </p:sp>
      <p:sp>
        <p:nvSpPr>
          <p:cNvPr id="7" name="Text 5"/>
          <p:cNvSpPr txBox="1"/>
          <p:nvPr/>
        </p:nvSpPr>
        <p:spPr>
          <a:xfrm>
            <a:off x="594360" y="2423160"/>
            <a:ext cx="2331720" cy="13716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512 tokens, head + tail kept</a:t>
            </a:r>
            <a:endParaRPr lang="en-US" sz="1300" dirty="0"/>
          </a:p>
          <a:p>
            <a:pPr marL="342900" indent="-342900">
              <a:spcAft>
                <a:spcPts val="600"/>
              </a:spcAft>
              <a:buSzPct val="100000"/>
              <a:buChar char="•"/>
            </a:pPr>
            <a:r>
              <a:rPr lang="en-US" sz="1300" dirty="0">
                <a:solidFill>
                  <a:schemeClr val="tx1"/>
                </a:solidFill>
              </a:rPr>
              <a:t>Layer-wise LR decay, label smoothing</a:t>
            </a:r>
            <a:endParaRPr lang="en-US" sz="1300" dirty="0"/>
          </a:p>
          <a:p>
            <a:pPr marL="342900" indent="-342900">
              <a:spcAft>
                <a:spcPts val="600"/>
              </a:spcAft>
              <a:buSzPct val="100000"/>
              <a:buChar char="•"/>
            </a:pPr>
            <a:r>
              <a:rPr lang="en-US" sz="1300" dirty="0">
                <a:solidFill>
                  <a:schemeClr val="tx1"/>
                </a:solidFill>
              </a:rPr>
              <a:t>TF-IDF blend weight 0.20 from OOF</a:t>
            </a:r>
            <a:endParaRPr lang="en-US" sz="1300" dirty="0"/>
          </a:p>
        </p:txBody>
      </p:sp>
      <p:sp>
        <p:nvSpPr>
          <p:cNvPr id="8" name="card"/>
          <p:cNvSpPr/>
          <p:nvPr/>
        </p:nvSpPr>
        <p:spPr>
          <a:xfrm>
            <a:off x="3291840" y="1097280"/>
            <a:ext cx="2560320" cy="2743200"/>
          </a:xfrm>
          <a:prstGeom prst="roundRect">
            <a:avLst>
              <a:gd name="adj" fmla="val 2857"/>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9" name="Shape 7"/>
          <p:cNvSpPr/>
          <p:nvPr/>
        </p:nvSpPr>
        <p:spPr>
          <a:xfrm>
            <a:off x="3429000" y="1234440"/>
            <a:ext cx="320040" cy="320040"/>
          </a:xfrm>
          <a:prstGeom prst="roundRect">
            <a:avLst>
              <a:gd name="adj" fmla="val 48571"/>
            </a:avLst>
          </a:prstGeom>
          <a:solidFill>
            <a:schemeClr val="accent1"/>
          </a:solidFill>
          <a:ln w="12700">
            <a:solidFill>
              <a:schemeClr val="accent1"/>
            </a:solidFill>
            <a:prstDash val="solid"/>
          </a:ln>
        </p:spPr>
      </p:sp>
      <p:sp>
        <p:nvSpPr>
          <p:cNvPr id="10" name="Text 8"/>
          <p:cNvSpPr txBox="1"/>
          <p:nvPr/>
        </p:nvSpPr>
        <p:spPr>
          <a:xfrm>
            <a:off x="3840480" y="1234440"/>
            <a:ext cx="1920240" cy="320040"/>
          </a:xfrm>
          <a:prstGeom prst="rect">
            <a:avLst/>
          </a:prstGeom>
          <a:noFill/>
          <a:ln/>
        </p:spPr>
        <p:txBody>
          <a:bodyPr wrap="square" lIns="0" tIns="0" rIns="0" bIns="0" rtlCol="0" anchor="ctr"/>
          <a:lstStyle/>
          <a:p>
            <a:pPr algn="l" indent="0" marL="0">
              <a:buNone/>
            </a:pPr>
            <a:r>
              <a:rPr lang="en-US" sz="1500" b="1" dirty="0">
                <a:solidFill>
                  <a:schemeClr val="tx1"/>
                </a:solidFill>
              </a:rPr>
              <a:t>Evidence Extraction</a:t>
            </a:r>
            <a:endParaRPr lang="en-US" sz="1500" dirty="0"/>
          </a:p>
        </p:txBody>
      </p:sp>
      <p:sp>
        <p:nvSpPr>
          <p:cNvPr id="11" name="Text 9"/>
          <p:cNvSpPr txBox="1"/>
          <p:nvPr/>
        </p:nvSpPr>
        <p:spPr>
          <a:xfrm>
            <a:off x="3429000" y="1691640"/>
            <a:ext cx="2286000" cy="640080"/>
          </a:xfrm>
          <a:prstGeom prst="rect">
            <a:avLst/>
          </a:prstGeom>
          <a:noFill/>
          <a:ln/>
        </p:spPr>
        <p:txBody>
          <a:bodyPr wrap="square" lIns="0" tIns="0" rIns="0" bIns="0" rtlCol="0" anchor="t"/>
          <a:lstStyle/>
          <a:p>
            <a:pPr algn="l" indent="0" marL="0">
              <a:buNone/>
            </a:pPr>
            <a:r>
              <a:rPr lang="en-US" sz="1300" b="1" dirty="0">
                <a:solidFill>
                  <a:schemeClr val="accent3"/>
                </a:solidFill>
              </a:rPr>
              <a:t>LLM span selection + verification</a:t>
            </a:r>
            <a:endParaRPr lang="en-US" sz="1300" dirty="0"/>
          </a:p>
        </p:txBody>
      </p:sp>
      <p:sp>
        <p:nvSpPr>
          <p:cNvPr id="12" name="Text 10"/>
          <p:cNvSpPr txBox="1"/>
          <p:nvPr/>
        </p:nvSpPr>
        <p:spPr>
          <a:xfrm>
            <a:off x="3429000" y="2423160"/>
            <a:ext cx="2331720" cy="13716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gpt-oss-120b, temperature 0</a:t>
            </a:r>
            <a:endParaRPr lang="en-US" sz="1300" dirty="0"/>
          </a:p>
          <a:p>
            <a:pPr marL="342900" indent="-342900">
              <a:spcAft>
                <a:spcPts val="600"/>
              </a:spcAft>
              <a:buSzPct val="100000"/>
              <a:buChar char="•"/>
            </a:pPr>
            <a:r>
              <a:rPr lang="en-US" sz="1300" dirty="0">
                <a:solidFill>
                  <a:schemeClr val="tx1"/>
                </a:solidFill>
              </a:rPr>
              <a:t>Spans matched exactly in the post</a:t>
            </a:r>
            <a:endParaRPr lang="en-US" sz="1300" dirty="0"/>
          </a:p>
          <a:p>
            <a:pPr marL="342900" indent="-342900">
              <a:spcAft>
                <a:spcPts val="600"/>
              </a:spcAft>
              <a:buSzPct val="100000"/>
              <a:buChar char="•"/>
            </a:pPr>
            <a:r>
              <a:rPr lang="en-US" sz="1300" dirty="0">
                <a:solidFill>
                  <a:schemeClr val="tx1"/>
                </a:solidFill>
              </a:rPr>
              <a:t>No match: best-cue sentence</a:t>
            </a:r>
            <a:endParaRPr lang="en-US" sz="1300" dirty="0"/>
          </a:p>
        </p:txBody>
      </p:sp>
      <p:sp>
        <p:nvSpPr>
          <p:cNvPr id="13" name="card"/>
          <p:cNvSpPr/>
          <p:nvPr/>
        </p:nvSpPr>
        <p:spPr>
          <a:xfrm>
            <a:off x="6126480" y="1097280"/>
            <a:ext cx="2560320" cy="2743200"/>
          </a:xfrm>
          <a:prstGeom prst="roundRect">
            <a:avLst>
              <a:gd name="adj" fmla="val 2857"/>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14" name="Shape 12"/>
          <p:cNvSpPr/>
          <p:nvPr/>
        </p:nvSpPr>
        <p:spPr>
          <a:xfrm>
            <a:off x="6263640" y="1234440"/>
            <a:ext cx="320040" cy="320040"/>
          </a:xfrm>
          <a:prstGeom prst="roundRect">
            <a:avLst>
              <a:gd name="adj" fmla="val 48571"/>
            </a:avLst>
          </a:prstGeom>
          <a:solidFill>
            <a:schemeClr val="accent5"/>
          </a:solidFill>
          <a:ln w="12700">
            <a:solidFill>
              <a:schemeClr val="accent5"/>
            </a:solidFill>
            <a:prstDash val="solid"/>
          </a:ln>
        </p:spPr>
      </p:sp>
      <p:sp>
        <p:nvSpPr>
          <p:cNvPr id="15" name="Text 13"/>
          <p:cNvSpPr txBox="1"/>
          <p:nvPr/>
        </p:nvSpPr>
        <p:spPr>
          <a:xfrm>
            <a:off x="6675120" y="1234440"/>
            <a:ext cx="1920240" cy="320040"/>
          </a:xfrm>
          <a:prstGeom prst="rect">
            <a:avLst/>
          </a:prstGeom>
          <a:noFill/>
          <a:ln/>
        </p:spPr>
        <p:txBody>
          <a:bodyPr wrap="square" lIns="0" tIns="0" rIns="0" bIns="0" rtlCol="0" anchor="ctr"/>
          <a:lstStyle/>
          <a:p>
            <a:pPr algn="l" indent="0" marL="0">
              <a:buNone/>
            </a:pPr>
            <a:r>
              <a:rPr lang="en-US" sz="1500" b="1" dirty="0">
                <a:solidFill>
                  <a:schemeClr val="tx1"/>
                </a:solidFill>
              </a:rPr>
              <a:t>Factor Identification</a:t>
            </a:r>
            <a:endParaRPr lang="en-US" sz="1500" dirty="0"/>
          </a:p>
        </p:txBody>
      </p:sp>
      <p:sp>
        <p:nvSpPr>
          <p:cNvPr id="16" name="Text 14"/>
          <p:cNvSpPr txBox="1"/>
          <p:nvPr/>
        </p:nvSpPr>
        <p:spPr>
          <a:xfrm>
            <a:off x="6263640" y="1691640"/>
            <a:ext cx="2286000" cy="640080"/>
          </a:xfrm>
          <a:prstGeom prst="rect">
            <a:avLst/>
          </a:prstGeom>
          <a:noFill/>
          <a:ln/>
        </p:spPr>
        <p:txBody>
          <a:bodyPr wrap="square" lIns="0" tIns="0" rIns="0" bIns="0" rtlCol="0" anchor="t"/>
          <a:lstStyle/>
          <a:p>
            <a:pPr algn="l" indent="0" marL="0">
              <a:buNone/>
            </a:pPr>
            <a:r>
              <a:rPr lang="en-US" sz="1300" b="1" dirty="0">
                <a:solidFill>
                  <a:schemeClr val="accent3"/>
                </a:solidFill>
              </a:rPr>
              <a:t>MentalRoBERTa multi-label</a:t>
            </a:r>
            <a:endParaRPr lang="en-US" sz="1300" dirty="0"/>
          </a:p>
        </p:txBody>
      </p:sp>
      <p:sp>
        <p:nvSpPr>
          <p:cNvPr id="17" name="Text 15"/>
          <p:cNvSpPr txBox="1"/>
          <p:nvPr/>
        </p:nvSpPr>
        <p:spPr>
          <a:xfrm>
            <a:off x="6263640" y="2423160"/>
            <a:ext cx="2331720" cy="13716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24 sigmoid outputs, 5 folds</a:t>
            </a:r>
            <a:endParaRPr lang="en-US" sz="1300" dirty="0"/>
          </a:p>
          <a:p>
            <a:pPr marL="342900" indent="-342900">
              <a:spcAft>
                <a:spcPts val="600"/>
              </a:spcAft>
              <a:buSzPct val="100000"/>
              <a:buChar char="•"/>
            </a:pPr>
            <a:r>
              <a:rPr lang="en-US" sz="1300" dirty="0">
                <a:solidFill>
                  <a:schemeClr val="tx1"/>
                </a:solidFill>
              </a:rPr>
              <a:t>Per-factor thresholds, cross-fitted</a:t>
            </a:r>
            <a:endParaRPr lang="en-US" sz="1300" dirty="0"/>
          </a:p>
          <a:p>
            <a:pPr marL="342900" indent="-342900">
              <a:spcAft>
                <a:spcPts val="600"/>
              </a:spcAft>
              <a:buSzPct val="100000"/>
              <a:buChar char="•"/>
            </a:pPr>
            <a:r>
              <a:rPr lang="en-US" sz="1300" dirty="0">
                <a:solidFill>
                  <a:schemeClr val="tx1"/>
                </a:solidFill>
              </a:rPr>
              <a:t>Rare factors keep 0.5</a:t>
            </a:r>
            <a:endParaRPr lang="en-US" sz="1300" dirty="0"/>
          </a:p>
        </p:txBody>
      </p:sp>
      <p:sp>
        <p:nvSpPr>
          <p:cNvPr id="18" name="banner"/>
          <p:cNvSpPr/>
          <p:nvPr/>
        </p:nvSpPr>
        <p:spPr>
          <a:xfrm>
            <a:off x="457200" y="4023360"/>
            <a:ext cx="8229600" cy="548640"/>
          </a:xfrm>
          <a:prstGeom prst="roundRect">
            <a:avLst>
              <a:gd name="adj" fmla="val 13333"/>
            </a:avLst>
          </a:prstGeom>
          <a:solidFill>
            <a:schemeClr val="accent1"/>
          </a:solidFill>
          <a:ln w="12700">
            <a:solidFill>
              <a:schemeClr val="accent1"/>
            </a:solidFill>
          </a:ln>
        </p:spPr>
        <p:txBody>
          <a:bodyPr wrap="square" lIns="762" tIns="762" rIns="762" bIns="762" rtlCol="0" anchor="ctr"/>
          <a:lstStyle/>
          <a:p>
            <a:pPr algn="ctr" indent="0" marL="0">
              <a:buNone/>
            </a:pPr>
            <a:r>
              <a:rPr lang="en-US" sz="1500" b="1" dirty="0">
                <a:solidFill>
                  <a:schemeClr val="bg1"/>
                </a:solidFill>
              </a:rPr>
              <a:t>Every evidence span is copied from the post; the LLM only chooses which text to copy.</a:t>
            </a:r>
            <a:endParaRPr lang="en-US" sz="15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Without This / With This</a:t>
            </a:r>
            <a:endParaRPr lang="en-US" sz="3000" dirty="0"/>
          </a:p>
        </p:txBody>
      </p:sp>
      <p:sp>
        <p:nvSpPr>
          <p:cNvPr id="3" name="Text 1"/>
          <p:cNvSpPr txBox="1"/>
          <p:nvPr/>
        </p:nvSpPr>
        <p:spPr>
          <a:xfrm>
            <a:off x="457200" y="960120"/>
            <a:ext cx="3474720" cy="274320"/>
          </a:xfrm>
          <a:prstGeom prst="rect">
            <a:avLst/>
          </a:prstGeom>
          <a:noFill/>
          <a:ln/>
        </p:spPr>
        <p:txBody>
          <a:bodyPr wrap="square" lIns="0" tIns="0" rIns="0" bIns="0" rtlCol="0" anchor="t"/>
          <a:lstStyle/>
          <a:p>
            <a:pPr algn="l" indent="0" marL="0">
              <a:buNone/>
            </a:pPr>
            <a:r>
              <a:rPr lang="en-US" sz="1200" b="1" dirty="0">
                <a:solidFill>
                  <a:schemeClr val="accent3"/>
                </a:solidFill>
              </a:rPr>
              <a:t>WITHOUT (earlier pipeline)</a:t>
            </a:r>
            <a:endParaRPr lang="en-US" sz="1200" dirty="0"/>
          </a:p>
        </p:txBody>
      </p:sp>
      <p:sp>
        <p:nvSpPr>
          <p:cNvPr id="4" name="Text 2"/>
          <p:cNvSpPr txBox="1"/>
          <p:nvPr/>
        </p:nvSpPr>
        <p:spPr>
          <a:xfrm>
            <a:off x="5212080" y="960120"/>
            <a:ext cx="3474720" cy="274320"/>
          </a:xfrm>
          <a:prstGeom prst="rect">
            <a:avLst/>
          </a:prstGeom>
          <a:noFill/>
          <a:ln/>
        </p:spPr>
        <p:txBody>
          <a:bodyPr wrap="square" lIns="0" tIns="0" rIns="0" bIns="0" rtlCol="0" anchor="t"/>
          <a:lstStyle/>
          <a:p>
            <a:pPr algn="l" indent="0" marL="0">
              <a:buNone/>
            </a:pPr>
            <a:r>
              <a:rPr lang="en-US" sz="1200" b="1" dirty="0">
                <a:solidFill>
                  <a:schemeClr val="accent1"/>
                </a:solidFill>
              </a:rPr>
              <a:t>WITH (current pipeline)</a:t>
            </a:r>
            <a:endParaRPr lang="en-US" sz="1200" dirty="0"/>
          </a:p>
        </p:txBody>
      </p:sp>
      <p:sp>
        <p:nvSpPr>
          <p:cNvPr id="5" name="without"/>
          <p:cNvSpPr/>
          <p:nvPr/>
        </p:nvSpPr>
        <p:spPr>
          <a:xfrm>
            <a:off x="457200" y="1280160"/>
            <a:ext cx="3840480" cy="502920"/>
          </a:xfrm>
          <a:prstGeom prst="roundRect">
            <a:avLst>
              <a:gd name="adj" fmla="val 14545"/>
            </a:avLst>
          </a:prstGeom>
          <a:solidFill>
            <a:schemeClr val="bg2"/>
          </a:solidFill>
          <a:ln w="12700">
            <a:solidFill>
              <a:schemeClr val="bg2"/>
            </a:solidFill>
          </a:ln>
        </p:spPr>
        <p:txBody>
          <a:bodyPr wrap="square" lIns="762" tIns="762" rIns="762" bIns="762" rtlCol="0" anchor="ctr"/>
          <a:lstStyle/>
          <a:p>
            <a:pPr algn="ctr" indent="0" marL="0">
              <a:buNone/>
            </a:pPr>
            <a:r>
              <a:rPr lang="en-US" sz="1200" dirty="0">
                <a:solidFill>
                  <a:schemeClr val="tx1"/>
                </a:solidFill>
              </a:rPr>
              <a:t>Risk: TF-IDF + logistic regression</a:t>
            </a:r>
            <a:endParaRPr lang="en-US" sz="1200" dirty="0"/>
          </a:p>
        </p:txBody>
      </p:sp>
      <p:sp>
        <p:nvSpPr>
          <p:cNvPr id="6" name="Shape 4"/>
          <p:cNvSpPr/>
          <p:nvPr/>
        </p:nvSpPr>
        <p:spPr>
          <a:xfrm>
            <a:off x="4343400" y="1531620"/>
            <a:ext cx="777240" cy="0"/>
          </a:xfrm>
          <a:prstGeom prst="line">
            <a:avLst/>
          </a:prstGeom>
          <a:noFill/>
          <a:ln w="19050">
            <a:solidFill>
              <a:schemeClr val="accent1"/>
            </a:solidFill>
            <a:prstDash val="solid"/>
            <a:tailEnd type="triangle"/>
          </a:ln>
        </p:spPr>
      </p:sp>
      <p:sp>
        <p:nvSpPr>
          <p:cNvPr id="7" name="with"/>
          <p:cNvSpPr/>
          <p:nvPr/>
        </p:nvSpPr>
        <p:spPr>
          <a:xfrm>
            <a:off x="5212080" y="1280160"/>
            <a:ext cx="3474720" cy="502920"/>
          </a:xfrm>
          <a:prstGeom prst="roundRect">
            <a:avLst>
              <a:gd name="adj" fmla="val 14545"/>
            </a:avLst>
          </a:prstGeom>
          <a:solidFill>
            <a:schemeClr val="accent1"/>
          </a:solidFill>
          <a:ln w="12700">
            <a:solidFill>
              <a:schemeClr val="accent1"/>
            </a:solidFill>
          </a:ln>
        </p:spPr>
        <p:txBody>
          <a:bodyPr wrap="square" lIns="762" tIns="762" rIns="762" bIns="762" rtlCol="0" anchor="ctr"/>
          <a:lstStyle/>
          <a:p>
            <a:pPr algn="ctr" indent="0" marL="0">
              <a:buNone/>
            </a:pPr>
            <a:r>
              <a:rPr lang="en-US" sz="1200" b="1" dirty="0">
                <a:solidFill>
                  <a:schemeClr val="bg1"/>
                </a:solidFill>
              </a:rPr>
              <a:t>Risk: MentalRoBERTa + TF-IDF blend</a:t>
            </a:r>
            <a:endParaRPr lang="en-US" sz="1200" dirty="0"/>
          </a:p>
        </p:txBody>
      </p:sp>
      <p:sp>
        <p:nvSpPr>
          <p:cNvPr id="8" name="without"/>
          <p:cNvSpPr/>
          <p:nvPr/>
        </p:nvSpPr>
        <p:spPr>
          <a:xfrm>
            <a:off x="457200" y="1938528"/>
            <a:ext cx="3840480" cy="502920"/>
          </a:xfrm>
          <a:prstGeom prst="roundRect">
            <a:avLst>
              <a:gd name="adj" fmla="val 14545"/>
            </a:avLst>
          </a:prstGeom>
          <a:solidFill>
            <a:schemeClr val="bg2"/>
          </a:solidFill>
          <a:ln w="12700">
            <a:solidFill>
              <a:schemeClr val="bg2"/>
            </a:solidFill>
          </a:ln>
        </p:spPr>
        <p:txBody>
          <a:bodyPr wrap="square" lIns="762" tIns="762" rIns="762" bIns="762" rtlCol="0" anchor="ctr"/>
          <a:lstStyle/>
          <a:p>
            <a:pPr algn="ctr" indent="0" marL="0">
              <a:buNone/>
            </a:pPr>
            <a:r>
              <a:rPr lang="en-US" sz="1200" dirty="0">
                <a:solidFill>
                  <a:schemeClr val="tx1"/>
                </a:solidFill>
              </a:rPr>
              <a:t>Factors: TF-IDF, one-vs-rest LR</a:t>
            </a:r>
            <a:endParaRPr lang="en-US" sz="1200" dirty="0"/>
          </a:p>
        </p:txBody>
      </p:sp>
      <p:sp>
        <p:nvSpPr>
          <p:cNvPr id="9" name="Shape 7"/>
          <p:cNvSpPr/>
          <p:nvPr/>
        </p:nvSpPr>
        <p:spPr>
          <a:xfrm>
            <a:off x="4343400" y="2189988"/>
            <a:ext cx="777240" cy="0"/>
          </a:xfrm>
          <a:prstGeom prst="line">
            <a:avLst/>
          </a:prstGeom>
          <a:noFill/>
          <a:ln w="19050">
            <a:solidFill>
              <a:schemeClr val="accent1"/>
            </a:solidFill>
            <a:prstDash val="solid"/>
            <a:tailEnd type="triangle"/>
          </a:ln>
        </p:spPr>
      </p:sp>
      <p:sp>
        <p:nvSpPr>
          <p:cNvPr id="10" name="with"/>
          <p:cNvSpPr/>
          <p:nvPr/>
        </p:nvSpPr>
        <p:spPr>
          <a:xfrm>
            <a:off x="5212080" y="1938528"/>
            <a:ext cx="3474720" cy="502920"/>
          </a:xfrm>
          <a:prstGeom prst="roundRect">
            <a:avLst>
              <a:gd name="adj" fmla="val 14545"/>
            </a:avLst>
          </a:prstGeom>
          <a:solidFill>
            <a:schemeClr val="accent1"/>
          </a:solidFill>
          <a:ln w="12700">
            <a:solidFill>
              <a:schemeClr val="accent1"/>
            </a:solidFill>
          </a:ln>
        </p:spPr>
        <p:txBody>
          <a:bodyPr wrap="square" lIns="762" tIns="762" rIns="762" bIns="762" rtlCol="0" anchor="ctr"/>
          <a:lstStyle/>
          <a:p>
            <a:pPr algn="ctr" indent="0" marL="0">
              <a:buNone/>
            </a:pPr>
            <a:r>
              <a:rPr lang="en-US" sz="1200" b="1" dirty="0">
                <a:solidFill>
                  <a:schemeClr val="bg1"/>
                </a:solidFill>
              </a:rPr>
              <a:t>Factors: MentalRoBERTa multi-label</a:t>
            </a:r>
            <a:endParaRPr lang="en-US" sz="1200" dirty="0"/>
          </a:p>
        </p:txBody>
      </p:sp>
      <p:sp>
        <p:nvSpPr>
          <p:cNvPr id="11" name="without"/>
          <p:cNvSpPr/>
          <p:nvPr/>
        </p:nvSpPr>
        <p:spPr>
          <a:xfrm>
            <a:off x="457200" y="2596896"/>
            <a:ext cx="3840480" cy="502920"/>
          </a:xfrm>
          <a:prstGeom prst="roundRect">
            <a:avLst>
              <a:gd name="adj" fmla="val 14545"/>
            </a:avLst>
          </a:prstGeom>
          <a:solidFill>
            <a:schemeClr val="bg2"/>
          </a:solidFill>
          <a:ln w="12700">
            <a:solidFill>
              <a:schemeClr val="bg2"/>
            </a:solidFill>
          </a:ln>
        </p:spPr>
        <p:txBody>
          <a:bodyPr wrap="square" lIns="762" tIns="762" rIns="762" bIns="762" rtlCol="0" anchor="ctr"/>
          <a:lstStyle/>
          <a:p>
            <a:pPr algn="ctr" indent="0" marL="0">
              <a:buNone/>
            </a:pPr>
            <a:r>
              <a:rPr lang="en-US" sz="1200" dirty="0">
                <a:solidFill>
                  <a:schemeClr val="tx1"/>
                </a:solidFill>
              </a:rPr>
              <a:t>Evidence: phrase-level span scorer</a:t>
            </a:r>
            <a:endParaRPr lang="en-US" sz="1200" dirty="0"/>
          </a:p>
        </p:txBody>
      </p:sp>
      <p:sp>
        <p:nvSpPr>
          <p:cNvPr id="12" name="Shape 10"/>
          <p:cNvSpPr/>
          <p:nvPr/>
        </p:nvSpPr>
        <p:spPr>
          <a:xfrm>
            <a:off x="4343400" y="2848356"/>
            <a:ext cx="777240" cy="0"/>
          </a:xfrm>
          <a:prstGeom prst="line">
            <a:avLst/>
          </a:prstGeom>
          <a:noFill/>
          <a:ln w="19050">
            <a:solidFill>
              <a:schemeClr val="accent1"/>
            </a:solidFill>
            <a:prstDash val="solid"/>
            <a:tailEnd type="triangle"/>
          </a:ln>
        </p:spPr>
      </p:sp>
      <p:sp>
        <p:nvSpPr>
          <p:cNvPr id="13" name="with"/>
          <p:cNvSpPr/>
          <p:nvPr/>
        </p:nvSpPr>
        <p:spPr>
          <a:xfrm>
            <a:off x="5212080" y="2596896"/>
            <a:ext cx="3474720" cy="502920"/>
          </a:xfrm>
          <a:prstGeom prst="roundRect">
            <a:avLst>
              <a:gd name="adj" fmla="val 14545"/>
            </a:avLst>
          </a:prstGeom>
          <a:solidFill>
            <a:schemeClr val="accent1"/>
          </a:solidFill>
          <a:ln w="12700">
            <a:solidFill>
              <a:schemeClr val="accent1"/>
            </a:solidFill>
          </a:ln>
        </p:spPr>
        <p:txBody>
          <a:bodyPr wrap="square" lIns="762" tIns="762" rIns="762" bIns="762" rtlCol="0" anchor="ctr"/>
          <a:lstStyle/>
          <a:p>
            <a:pPr algn="ctr" indent="0" marL="0">
              <a:buNone/>
            </a:pPr>
            <a:r>
              <a:rPr lang="en-US" sz="1200" b="1" dirty="0">
                <a:solidFill>
                  <a:schemeClr val="bg1"/>
                </a:solidFill>
              </a:rPr>
              <a:t>Evidence: LLM-selected, verified verbatim</a:t>
            </a:r>
            <a:endParaRPr lang="en-US" sz="1200" dirty="0"/>
          </a:p>
        </p:txBody>
      </p:sp>
      <p:sp>
        <p:nvSpPr>
          <p:cNvPr id="14" name="without"/>
          <p:cNvSpPr/>
          <p:nvPr/>
        </p:nvSpPr>
        <p:spPr>
          <a:xfrm>
            <a:off x="457200" y="3255264"/>
            <a:ext cx="3840480" cy="502920"/>
          </a:xfrm>
          <a:prstGeom prst="roundRect">
            <a:avLst>
              <a:gd name="adj" fmla="val 14545"/>
            </a:avLst>
          </a:prstGeom>
          <a:solidFill>
            <a:schemeClr val="bg2"/>
          </a:solidFill>
          <a:ln w="12700">
            <a:solidFill>
              <a:schemeClr val="bg2"/>
            </a:solidFill>
          </a:ln>
        </p:spPr>
        <p:txBody>
          <a:bodyPr wrap="square" lIns="762" tIns="762" rIns="762" bIns="762" rtlCol="0" anchor="ctr"/>
          <a:lstStyle/>
          <a:p>
            <a:pPr algn="ctr" indent="0" marL="0">
              <a:buNone/>
            </a:pPr>
            <a:r>
              <a:rPr lang="en-US" sz="1200" dirty="0">
                <a:solidFill>
                  <a:schemeClr val="tx1"/>
                </a:solidFill>
              </a:rPr>
              <a:t>Input: lowercased text, TF-IDF features</a:t>
            </a:r>
            <a:endParaRPr lang="en-US" sz="1200" dirty="0"/>
          </a:p>
        </p:txBody>
      </p:sp>
      <p:sp>
        <p:nvSpPr>
          <p:cNvPr id="15" name="Shape 13"/>
          <p:cNvSpPr/>
          <p:nvPr/>
        </p:nvSpPr>
        <p:spPr>
          <a:xfrm>
            <a:off x="4343400" y="3506724"/>
            <a:ext cx="777240" cy="0"/>
          </a:xfrm>
          <a:prstGeom prst="line">
            <a:avLst/>
          </a:prstGeom>
          <a:noFill/>
          <a:ln w="19050">
            <a:solidFill>
              <a:schemeClr val="accent1"/>
            </a:solidFill>
            <a:prstDash val="solid"/>
            <a:tailEnd type="triangle"/>
          </a:ln>
        </p:spPr>
      </p:sp>
      <p:sp>
        <p:nvSpPr>
          <p:cNvPr id="16" name="with"/>
          <p:cNvSpPr/>
          <p:nvPr/>
        </p:nvSpPr>
        <p:spPr>
          <a:xfrm>
            <a:off x="5212080" y="3255264"/>
            <a:ext cx="3474720" cy="502920"/>
          </a:xfrm>
          <a:prstGeom prst="roundRect">
            <a:avLst>
              <a:gd name="adj" fmla="val 14545"/>
            </a:avLst>
          </a:prstGeom>
          <a:solidFill>
            <a:schemeClr val="accent1"/>
          </a:solidFill>
          <a:ln w="12700">
            <a:solidFill>
              <a:schemeClr val="accent1"/>
            </a:solidFill>
          </a:ln>
        </p:spPr>
        <p:txBody>
          <a:bodyPr wrap="square" lIns="762" tIns="762" rIns="762" bIns="762" rtlCol="0" anchor="ctr"/>
          <a:lstStyle/>
          <a:p>
            <a:pPr algn="ctr" indent="0" marL="0">
              <a:buNone/>
            </a:pPr>
            <a:r>
              <a:rPr lang="en-US" sz="1200" b="1" dirty="0">
                <a:solidFill>
                  <a:schemeClr val="bg1"/>
                </a:solidFill>
              </a:rPr>
              <a:t>Input: original-case text, 512 tokens, head + tail</a:t>
            </a:r>
            <a:endParaRPr lang="en-US" sz="1200" dirty="0"/>
          </a:p>
        </p:txBody>
      </p:sp>
      <p:sp>
        <p:nvSpPr>
          <p:cNvPr id="17" name="without"/>
          <p:cNvSpPr/>
          <p:nvPr/>
        </p:nvSpPr>
        <p:spPr>
          <a:xfrm>
            <a:off x="457200" y="3913632"/>
            <a:ext cx="3840480" cy="502920"/>
          </a:xfrm>
          <a:prstGeom prst="roundRect">
            <a:avLst>
              <a:gd name="adj" fmla="val 14545"/>
            </a:avLst>
          </a:prstGeom>
          <a:solidFill>
            <a:schemeClr val="bg2"/>
          </a:solidFill>
          <a:ln w="12700">
            <a:solidFill>
              <a:schemeClr val="bg2"/>
            </a:solidFill>
          </a:ln>
        </p:spPr>
        <p:txBody>
          <a:bodyPr wrap="square" lIns="762" tIns="762" rIns="762" bIns="762" rtlCol="0" anchor="ctr"/>
          <a:lstStyle/>
          <a:p>
            <a:pPr algn="ctr" indent="0" marL="0">
              <a:buNone/>
            </a:pPr>
            <a:r>
              <a:rPr lang="en-US" sz="1200" dirty="0">
                <a:solidFill>
                  <a:schemeClr val="tx1"/>
                </a:solidFill>
              </a:rPr>
              <a:t>Validation: single split, thresholds tuned on it</a:t>
            </a:r>
            <a:endParaRPr lang="en-US" sz="1200" dirty="0"/>
          </a:p>
        </p:txBody>
      </p:sp>
      <p:sp>
        <p:nvSpPr>
          <p:cNvPr id="18" name="Shape 16"/>
          <p:cNvSpPr/>
          <p:nvPr/>
        </p:nvSpPr>
        <p:spPr>
          <a:xfrm>
            <a:off x="4343400" y="4165092"/>
            <a:ext cx="777240" cy="0"/>
          </a:xfrm>
          <a:prstGeom prst="line">
            <a:avLst/>
          </a:prstGeom>
          <a:noFill/>
          <a:ln w="19050">
            <a:solidFill>
              <a:schemeClr val="accent1"/>
            </a:solidFill>
            <a:prstDash val="solid"/>
            <a:tailEnd type="triangle"/>
          </a:ln>
        </p:spPr>
      </p:sp>
      <p:sp>
        <p:nvSpPr>
          <p:cNvPr id="19" name="with"/>
          <p:cNvSpPr/>
          <p:nvPr/>
        </p:nvSpPr>
        <p:spPr>
          <a:xfrm>
            <a:off x="5212080" y="3913632"/>
            <a:ext cx="3474720" cy="502920"/>
          </a:xfrm>
          <a:prstGeom prst="roundRect">
            <a:avLst>
              <a:gd name="adj" fmla="val 14545"/>
            </a:avLst>
          </a:prstGeom>
          <a:solidFill>
            <a:schemeClr val="accent1"/>
          </a:solidFill>
          <a:ln w="12700">
            <a:solidFill>
              <a:schemeClr val="accent1"/>
            </a:solidFill>
          </a:ln>
        </p:spPr>
        <p:txBody>
          <a:bodyPr wrap="square" lIns="762" tIns="762" rIns="762" bIns="762" rtlCol="0" anchor="ctr"/>
          <a:lstStyle/>
          <a:p>
            <a:pPr algn="ctr" indent="0" marL="0">
              <a:buNone/>
            </a:pPr>
            <a:r>
              <a:rPr lang="en-US" sz="1200" b="1" dirty="0">
                <a:solidFill>
                  <a:schemeClr val="bg1"/>
                </a:solidFill>
              </a:rPr>
              <a:t>Validation: nested user-grouped CV; held-out scored once</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Where the Risk Gain Comes From</a:t>
            </a:r>
            <a:endParaRPr lang="en-US" sz="3000" dirty="0"/>
          </a:p>
        </p:txBody>
      </p:sp>
      <p:graphicFrame>
        <p:nvGraphicFramePr>
          <p:cNvPr id="3" name="Chart 0" descr=""/>
          <p:cNvGraphicFramePr/>
          <p:nvPr/>
        </p:nvGraphicFramePr>
        <p:xfrm>
          <a:off x="457200" y="1005840"/>
          <a:ext cx="5303520" cy="35661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035040" y="1280160"/>
            <a:ext cx="2651760" cy="32918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Swapping TF-IDF for MentalRoBERTa adds about 14 accuracy points</a:t>
            </a:r>
            <a:endParaRPr lang="en-US" sz="1300" dirty="0"/>
          </a:p>
          <a:p>
            <a:pPr marL="342900" indent="-342900">
              <a:spcAft>
                <a:spcPts val="600"/>
              </a:spcAft>
              <a:buSzPct val="100000"/>
              <a:buChar char="•"/>
            </a:pPr>
            <a:r>
              <a:rPr lang="en-US" sz="1300" dirty="0">
                <a:solidFill>
                  <a:schemeClr val="tx1"/>
                </a:solidFill>
              </a:rPr>
              <a:t>The TF-IDF blend is within noise (−0.002 OOF, +0.006 held-out)</a:t>
            </a:r>
            <a:endParaRPr lang="en-US" sz="1300" dirty="0"/>
          </a:p>
          <a:p>
            <a:pPr marL="342900" indent="-342900">
              <a:spcAft>
                <a:spcPts val="600"/>
              </a:spcAft>
              <a:buSzPct val="100000"/>
              <a:buChar char="•"/>
            </a:pPr>
            <a:r>
              <a:rPr lang="en-US" sz="1300" dirty="0">
                <a:solidFill>
                  <a:schemeClr val="tx1"/>
                </a:solidFill>
              </a:rPr>
              <a:t>Class-bias calibration was tested and rejected</a:t>
            </a:r>
            <a:endParaRPr lang="en-US" sz="1300" dirty="0"/>
          </a:p>
          <a:p>
            <a:pPr marL="342900" indent="-342900">
              <a:spcAft>
                <a:spcPts val="600"/>
              </a:spcAft>
              <a:buSzPct val="100000"/>
              <a:buChar char="•"/>
            </a:pPr>
            <a:r>
              <a:rPr lang="en-US" sz="1300" dirty="0">
                <a:solidFill>
                  <a:schemeClr val="tx1"/>
                </a:solidFill>
              </a:rPr>
              <a:t>Settings (512 tokens, LLRD, label smoothing) were changed together, not ablated</a:t>
            </a:r>
            <a:endParaRPr lang="en-US" sz="13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From Prediction to Explanation</a:t>
            </a:r>
            <a:endParaRPr lang="en-US" sz="3000" dirty="0"/>
          </a:p>
        </p:txBody>
      </p:sp>
      <p:sp>
        <p:nvSpPr>
          <p:cNvPr id="3" name="Text 1"/>
          <p:cNvSpPr txBox="1"/>
          <p:nvPr/>
        </p:nvSpPr>
        <p:spPr>
          <a:xfrm>
            <a:off x="457200" y="1005840"/>
            <a:ext cx="5486400" cy="274320"/>
          </a:xfrm>
          <a:prstGeom prst="rect">
            <a:avLst/>
          </a:prstGeom>
          <a:noFill/>
          <a:ln/>
        </p:spPr>
        <p:txBody>
          <a:bodyPr wrap="square" lIns="0" tIns="0" rIns="0" bIns="0" rtlCol="0" anchor="t"/>
          <a:lstStyle/>
          <a:p>
            <a:pPr algn="l" indent="0" marL="0">
              <a:buNone/>
            </a:pPr>
            <a:r>
              <a:rPr lang="en-US" sz="1200" i="1" dirty="0">
                <a:solidFill>
                  <a:schemeClr val="accent3"/>
                </a:solidFill>
              </a:rPr>
              <a:t>Held-out example from the notebook output</a:t>
            </a:r>
            <a:endParaRPr lang="en-US" sz="1200" dirty="0"/>
          </a:p>
        </p:txBody>
      </p:sp>
      <p:sp>
        <p:nvSpPr>
          <p:cNvPr id="4" name="post"/>
          <p:cNvSpPr/>
          <p:nvPr/>
        </p:nvSpPr>
        <p:spPr>
          <a:xfrm>
            <a:off x="457200" y="1325880"/>
            <a:ext cx="8229600" cy="731520"/>
          </a:xfrm>
          <a:prstGeom prst="roundRect">
            <a:avLst>
              <a:gd name="adj" fmla="val 10000"/>
            </a:avLst>
          </a:prstGeom>
          <a:solidFill>
            <a:schemeClr val="bg2"/>
          </a:solidFill>
          <a:ln w="12700">
            <a:solidFill>
              <a:schemeClr val="bg2"/>
            </a:solidFill>
          </a:ln>
        </p:spPr>
        <p:txBody>
          <a:bodyPr wrap="square" lIns="762" tIns="762" rIns="762" bIns="762" rtlCol="0" anchor="ctr"/>
          <a:lstStyle/>
          <a:p>
            <a:pPr algn="ctr" indent="0" marL="0">
              <a:buNone/>
            </a:pPr>
            <a:r>
              <a:rPr lang="en-US" sz="1600" dirty="0">
                <a:solidFill>
                  <a:schemeClr val="tx1"/>
                </a:solidFill>
              </a:rPr>
              <a:t>“so ugly that i want to kill myself because of it”</a:t>
            </a:r>
            <a:endParaRPr lang="en-US" sz="1600" dirty="0"/>
          </a:p>
        </p:txBody>
      </p:sp>
      <p:sp>
        <p:nvSpPr>
          <p:cNvPr id="5" name="Shape 3"/>
          <p:cNvSpPr/>
          <p:nvPr/>
        </p:nvSpPr>
        <p:spPr>
          <a:xfrm>
            <a:off x="1737360" y="2057400"/>
            <a:ext cx="0" cy="320040"/>
          </a:xfrm>
          <a:prstGeom prst="line">
            <a:avLst/>
          </a:prstGeom>
          <a:noFill/>
          <a:ln w="19050">
            <a:solidFill>
              <a:schemeClr val="accent3"/>
            </a:solidFill>
            <a:prstDash val="solid"/>
            <a:tailEnd type="triangle"/>
          </a:ln>
        </p:spPr>
      </p:sp>
      <p:sp>
        <p:nvSpPr>
          <p:cNvPr id="6" name="lbl"/>
          <p:cNvSpPr/>
          <p:nvPr/>
        </p:nvSpPr>
        <p:spPr>
          <a:xfrm>
            <a:off x="457200" y="2377440"/>
            <a:ext cx="2560320" cy="320040"/>
          </a:xfrm>
          <a:prstGeom prst="roundRect">
            <a:avLst>
              <a:gd name="adj" fmla="val 22857"/>
            </a:avLst>
          </a:prstGeom>
          <a:solidFill>
            <a:schemeClr val="bg1"/>
          </a:solidFill>
          <a:ln w="12700">
            <a:solidFill>
              <a:schemeClr val="bg1"/>
            </a:solidFill>
          </a:ln>
        </p:spPr>
        <p:txBody>
          <a:bodyPr wrap="square" lIns="762" tIns="762" rIns="762" bIns="762" rtlCol="0" anchor="ctr"/>
          <a:lstStyle/>
          <a:p>
            <a:pPr algn="ctr" indent="0" marL="0">
              <a:buNone/>
            </a:pPr>
            <a:r>
              <a:rPr lang="en-US" sz="1100" b="1" dirty="0">
                <a:solidFill>
                  <a:schemeClr val="accent3"/>
                </a:solidFill>
              </a:rPr>
              <a:t>PREDICTED RISK</a:t>
            </a:r>
            <a:endParaRPr lang="en-US" sz="1100" dirty="0"/>
          </a:p>
        </p:txBody>
      </p:sp>
      <p:sp>
        <p:nvSpPr>
          <p:cNvPr id="7" name="out"/>
          <p:cNvSpPr/>
          <p:nvPr/>
        </p:nvSpPr>
        <p:spPr>
          <a:xfrm>
            <a:off x="457200" y="2697480"/>
            <a:ext cx="2560320" cy="731520"/>
          </a:xfrm>
          <a:prstGeom prst="roundRect">
            <a:avLst>
              <a:gd name="adj" fmla="val 10000"/>
            </a:avLst>
          </a:prstGeom>
          <a:solidFill>
            <a:schemeClr val="accent2"/>
          </a:solidFill>
          <a:ln w="12700">
            <a:solidFill>
              <a:schemeClr val="accent2"/>
            </a:solidFill>
          </a:ln>
        </p:spPr>
        <p:txBody>
          <a:bodyPr wrap="square" lIns="762" tIns="762" rIns="762" bIns="762" rtlCol="0" anchor="ctr"/>
          <a:lstStyle/>
          <a:p>
            <a:pPr algn="ctr" indent="0" marL="0">
              <a:buNone/>
            </a:pPr>
            <a:r>
              <a:rPr lang="en-US" sz="1700" b="1" dirty="0">
                <a:solidFill>
                  <a:schemeClr val="bg1"/>
                </a:solidFill>
              </a:rPr>
              <a:t>Ideation (p = 0.94)</a:t>
            </a:r>
            <a:endParaRPr lang="en-US" sz="1700" dirty="0"/>
          </a:p>
        </p:txBody>
      </p:sp>
      <p:sp>
        <p:nvSpPr>
          <p:cNvPr id="8" name="Shape 6"/>
          <p:cNvSpPr/>
          <p:nvPr/>
        </p:nvSpPr>
        <p:spPr>
          <a:xfrm>
            <a:off x="4572000" y="2057400"/>
            <a:ext cx="0" cy="320040"/>
          </a:xfrm>
          <a:prstGeom prst="line">
            <a:avLst/>
          </a:prstGeom>
          <a:noFill/>
          <a:ln w="19050">
            <a:solidFill>
              <a:schemeClr val="accent3"/>
            </a:solidFill>
            <a:prstDash val="solid"/>
            <a:tailEnd type="triangle"/>
          </a:ln>
        </p:spPr>
      </p:sp>
      <p:sp>
        <p:nvSpPr>
          <p:cNvPr id="9" name="lbl"/>
          <p:cNvSpPr/>
          <p:nvPr/>
        </p:nvSpPr>
        <p:spPr>
          <a:xfrm>
            <a:off x="3291840" y="2377440"/>
            <a:ext cx="2560320" cy="320040"/>
          </a:xfrm>
          <a:prstGeom prst="roundRect">
            <a:avLst>
              <a:gd name="adj" fmla="val 22857"/>
            </a:avLst>
          </a:prstGeom>
          <a:solidFill>
            <a:schemeClr val="bg1"/>
          </a:solidFill>
          <a:ln w="12700">
            <a:solidFill>
              <a:schemeClr val="bg1"/>
            </a:solidFill>
          </a:ln>
        </p:spPr>
        <p:txBody>
          <a:bodyPr wrap="square" lIns="762" tIns="762" rIns="762" bIns="762" rtlCol="0" anchor="ctr"/>
          <a:lstStyle/>
          <a:p>
            <a:pPr algn="ctr" indent="0" marL="0">
              <a:buNone/>
            </a:pPr>
            <a:r>
              <a:rPr lang="en-US" sz="1100" b="1" dirty="0">
                <a:solidFill>
                  <a:schemeClr val="accent3"/>
                </a:solidFill>
              </a:rPr>
              <a:t>EVIDENCE SELECTED</a:t>
            </a:r>
            <a:endParaRPr lang="en-US" sz="1100" dirty="0"/>
          </a:p>
        </p:txBody>
      </p:sp>
      <p:sp>
        <p:nvSpPr>
          <p:cNvPr id="10" name="out"/>
          <p:cNvSpPr/>
          <p:nvPr/>
        </p:nvSpPr>
        <p:spPr>
          <a:xfrm>
            <a:off x="3291840" y="2697480"/>
            <a:ext cx="2560320" cy="731520"/>
          </a:xfrm>
          <a:prstGeom prst="roundRect">
            <a:avLst>
              <a:gd name="adj" fmla="val 10000"/>
            </a:avLst>
          </a:prstGeom>
          <a:solidFill>
            <a:schemeClr val="accent1"/>
          </a:solidFill>
          <a:ln w="12700">
            <a:solidFill>
              <a:schemeClr val="accent1"/>
            </a:solidFill>
          </a:ln>
        </p:spPr>
        <p:txBody>
          <a:bodyPr wrap="square" lIns="762" tIns="762" rIns="762" bIns="762" rtlCol="0" anchor="ctr"/>
          <a:lstStyle/>
          <a:p>
            <a:pPr algn="ctr" indent="0" marL="0">
              <a:buNone/>
            </a:pPr>
            <a:r>
              <a:rPr lang="en-US" sz="1300" b="1" dirty="0">
                <a:solidFill>
                  <a:schemeClr val="bg1"/>
                </a:solidFill>
              </a:rPr>
              <a:t>whole post (reference: “want to kill myself”)</a:t>
            </a:r>
            <a:endParaRPr lang="en-US" sz="1300" dirty="0"/>
          </a:p>
        </p:txBody>
      </p:sp>
      <p:sp>
        <p:nvSpPr>
          <p:cNvPr id="11" name="Shape 9"/>
          <p:cNvSpPr/>
          <p:nvPr/>
        </p:nvSpPr>
        <p:spPr>
          <a:xfrm>
            <a:off x="7406640" y="2057400"/>
            <a:ext cx="0" cy="320040"/>
          </a:xfrm>
          <a:prstGeom prst="line">
            <a:avLst/>
          </a:prstGeom>
          <a:noFill/>
          <a:ln w="19050">
            <a:solidFill>
              <a:schemeClr val="accent3"/>
            </a:solidFill>
            <a:prstDash val="solid"/>
            <a:tailEnd type="triangle"/>
          </a:ln>
        </p:spPr>
      </p:sp>
      <p:sp>
        <p:nvSpPr>
          <p:cNvPr id="12" name="lbl"/>
          <p:cNvSpPr/>
          <p:nvPr/>
        </p:nvSpPr>
        <p:spPr>
          <a:xfrm>
            <a:off x="6126480" y="2377440"/>
            <a:ext cx="2560320" cy="320040"/>
          </a:xfrm>
          <a:prstGeom prst="roundRect">
            <a:avLst>
              <a:gd name="adj" fmla="val 22857"/>
            </a:avLst>
          </a:prstGeom>
          <a:solidFill>
            <a:schemeClr val="bg1"/>
          </a:solidFill>
          <a:ln w="12700">
            <a:solidFill>
              <a:schemeClr val="bg1"/>
            </a:solidFill>
          </a:ln>
        </p:spPr>
        <p:txBody>
          <a:bodyPr wrap="square" lIns="762" tIns="762" rIns="762" bIns="762" rtlCol="0" anchor="ctr"/>
          <a:lstStyle/>
          <a:p>
            <a:pPr algn="ctr" indent="0" marL="0">
              <a:buNone/>
            </a:pPr>
            <a:r>
              <a:rPr lang="en-US" sz="1100" b="1" dirty="0">
                <a:solidFill>
                  <a:schemeClr val="accent3"/>
                </a:solidFill>
              </a:rPr>
              <a:t>FACTORS</a:t>
            </a:r>
            <a:endParaRPr lang="en-US" sz="1100" dirty="0"/>
          </a:p>
        </p:txBody>
      </p:sp>
      <p:sp>
        <p:nvSpPr>
          <p:cNvPr id="13" name="out"/>
          <p:cNvSpPr/>
          <p:nvPr/>
        </p:nvSpPr>
        <p:spPr>
          <a:xfrm>
            <a:off x="6126480" y="2697480"/>
            <a:ext cx="2560320" cy="731520"/>
          </a:xfrm>
          <a:prstGeom prst="roundRect">
            <a:avLst>
              <a:gd name="adj" fmla="val 10000"/>
            </a:avLst>
          </a:prstGeom>
          <a:solidFill>
            <a:schemeClr val="accent5"/>
          </a:solidFill>
          <a:ln w="12700">
            <a:solidFill>
              <a:schemeClr val="accent5"/>
            </a:solidFill>
          </a:ln>
        </p:spPr>
        <p:txBody>
          <a:bodyPr wrap="square" lIns="762" tIns="762" rIns="762" bIns="762" rtlCol="0" anchor="ctr"/>
          <a:lstStyle/>
          <a:p>
            <a:pPr algn="ctr" indent="0" marL="0">
              <a:buNone/>
            </a:pPr>
            <a:r>
              <a:rPr lang="en-US" sz="1700" b="1" dirty="0">
                <a:solidFill>
                  <a:schemeClr val="bg1"/>
                </a:solidFill>
              </a:rPr>
              <a:t>low self-esteem</a:t>
            </a:r>
            <a:endParaRPr lang="en-US" sz="1700" dirty="0"/>
          </a:p>
        </p:txBody>
      </p:sp>
      <p:sp>
        <p:nvSpPr>
          <p:cNvPr id="14" name="banner"/>
          <p:cNvSpPr/>
          <p:nvPr/>
        </p:nvSpPr>
        <p:spPr>
          <a:xfrm>
            <a:off x="457200" y="3657600"/>
            <a:ext cx="8229600" cy="914400"/>
          </a:xfrm>
          <a:prstGeom prst="roundRect">
            <a:avLst>
              <a:gd name="adj" fmla="val 8000"/>
            </a:avLst>
          </a:prstGeom>
          <a:solidFill>
            <a:schemeClr val="tx1"/>
          </a:solidFill>
          <a:ln w="12700">
            <a:solidFill>
              <a:schemeClr val="tx1"/>
            </a:solidFill>
          </a:ln>
        </p:spPr>
        <p:txBody>
          <a:bodyPr wrap="square" lIns="1905" tIns="1905" rIns="1905" bIns="1905" rtlCol="0" anchor="ctr"/>
          <a:lstStyle/>
          <a:p>
            <a:pPr algn="ctr" indent="0" marL="0">
              <a:buNone/>
            </a:pPr>
            <a:r>
              <a:rPr lang="en-US" sz="1300" dirty="0">
                <a:solidFill>
                  <a:schemeClr val="bg1"/>
                </a:solidFill>
              </a:rPr>
              <a:t>Every output span is an exact substring of the post: LLM proposals are matched against the text, and unmatched ones are dropped. The risk and factor labels match the annotation; the evidence span is longer than the reference.</a:t>
            </a:r>
            <a:endParaRPr lang="en-US" sz="13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Current Model Performance</a:t>
            </a:r>
            <a:endParaRPr lang="en-US" sz="3000" dirty="0"/>
          </a:p>
        </p:txBody>
      </p:sp>
      <p:sp>
        <p:nvSpPr>
          <p:cNvPr id="3" name="card"/>
          <p:cNvSpPr/>
          <p:nvPr/>
        </p:nvSpPr>
        <p:spPr>
          <a:xfrm>
            <a:off x="457200" y="1051560"/>
            <a:ext cx="2560320" cy="1417320"/>
          </a:xfrm>
          <a:prstGeom prst="roundRect">
            <a:avLst>
              <a:gd name="adj" fmla="val 5161"/>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4" name="Text 2"/>
          <p:cNvSpPr txBox="1"/>
          <p:nvPr/>
        </p:nvSpPr>
        <p:spPr>
          <a:xfrm>
            <a:off x="594360" y="1143000"/>
            <a:ext cx="2286000" cy="228600"/>
          </a:xfrm>
          <a:prstGeom prst="rect">
            <a:avLst/>
          </a:prstGeom>
          <a:noFill/>
          <a:ln/>
        </p:spPr>
        <p:txBody>
          <a:bodyPr wrap="square" lIns="0" tIns="0" rIns="0" bIns="0" rtlCol="0" anchor="t"/>
          <a:lstStyle/>
          <a:p>
            <a:pPr algn="l" indent="0" marL="0">
              <a:buNone/>
            </a:pPr>
            <a:r>
              <a:rPr lang="en-US" sz="1100" b="1" dirty="0">
                <a:solidFill>
                  <a:schemeClr val="accent2"/>
                </a:solidFill>
              </a:rPr>
              <a:t>RISK CLASSIFICATION</a:t>
            </a:r>
            <a:endParaRPr lang="en-US" sz="1100" dirty="0"/>
          </a:p>
        </p:txBody>
      </p:sp>
      <p:sp>
        <p:nvSpPr>
          <p:cNvPr id="5" name="Text 3"/>
          <p:cNvSpPr txBox="1"/>
          <p:nvPr/>
        </p:nvSpPr>
        <p:spPr>
          <a:xfrm>
            <a:off x="594360" y="1371600"/>
            <a:ext cx="2286000" cy="685800"/>
          </a:xfrm>
          <a:prstGeom prst="rect">
            <a:avLst/>
          </a:prstGeom>
          <a:noFill/>
          <a:ln/>
        </p:spPr>
        <p:txBody>
          <a:bodyPr wrap="square" lIns="0" tIns="0" rIns="0" bIns="0" rtlCol="0" anchor="t"/>
          <a:lstStyle/>
          <a:p>
            <a:pPr algn="l" indent="0" marL="0">
              <a:buNone/>
            </a:pPr>
            <a:r>
              <a:rPr lang="en-US" sz="4400" b="1" dirty="0">
                <a:solidFill>
                  <a:schemeClr val="tx1"/>
                </a:solidFill>
              </a:rPr>
              <a:t>0.7671</a:t>
            </a:r>
            <a:endParaRPr lang="en-US" sz="4400" dirty="0"/>
          </a:p>
        </p:txBody>
      </p:sp>
      <p:sp>
        <p:nvSpPr>
          <p:cNvPr id="6" name="Text 4"/>
          <p:cNvSpPr txBox="1"/>
          <p:nvPr/>
        </p:nvSpPr>
        <p:spPr>
          <a:xfrm>
            <a:off x="594360" y="2103120"/>
            <a:ext cx="2377440" cy="274320"/>
          </a:xfrm>
          <a:prstGeom prst="rect">
            <a:avLst/>
          </a:prstGeom>
          <a:noFill/>
          <a:ln/>
        </p:spPr>
        <p:txBody>
          <a:bodyPr wrap="square" lIns="0" tIns="0" rIns="0" bIns="0" rtlCol="0" anchor="t"/>
          <a:lstStyle/>
          <a:p>
            <a:pPr algn="l" indent="0" marL="0">
              <a:buNone/>
            </a:pPr>
            <a:r>
              <a:rPr lang="en-US" sz="1300" dirty="0">
                <a:solidFill>
                  <a:schemeClr val="accent3"/>
                </a:solidFill>
              </a:rPr>
              <a:t>Weighted F1  |  was 0.6209</a:t>
            </a:r>
            <a:endParaRPr lang="en-US" sz="1300" dirty="0"/>
          </a:p>
        </p:txBody>
      </p:sp>
      <p:sp>
        <p:nvSpPr>
          <p:cNvPr id="7" name="card"/>
          <p:cNvSpPr/>
          <p:nvPr/>
        </p:nvSpPr>
        <p:spPr>
          <a:xfrm>
            <a:off x="3291840" y="1051560"/>
            <a:ext cx="2560320" cy="1417320"/>
          </a:xfrm>
          <a:prstGeom prst="roundRect">
            <a:avLst>
              <a:gd name="adj" fmla="val 5161"/>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8" name="Text 6"/>
          <p:cNvSpPr txBox="1"/>
          <p:nvPr/>
        </p:nvSpPr>
        <p:spPr>
          <a:xfrm>
            <a:off x="3429000" y="1143000"/>
            <a:ext cx="2286000" cy="228600"/>
          </a:xfrm>
          <a:prstGeom prst="rect">
            <a:avLst/>
          </a:prstGeom>
          <a:noFill/>
          <a:ln/>
        </p:spPr>
        <p:txBody>
          <a:bodyPr wrap="square" lIns="0" tIns="0" rIns="0" bIns="0" rtlCol="0" anchor="t"/>
          <a:lstStyle/>
          <a:p>
            <a:pPr algn="l" indent="0" marL="0">
              <a:buNone/>
            </a:pPr>
            <a:r>
              <a:rPr lang="en-US" sz="1100" b="1" dirty="0">
                <a:solidFill>
                  <a:schemeClr val="accent5"/>
                </a:solidFill>
              </a:rPr>
              <a:t>FACTOR IDENTIFICATION</a:t>
            </a:r>
            <a:endParaRPr lang="en-US" sz="1100" dirty="0"/>
          </a:p>
        </p:txBody>
      </p:sp>
      <p:sp>
        <p:nvSpPr>
          <p:cNvPr id="9" name="Text 7"/>
          <p:cNvSpPr txBox="1"/>
          <p:nvPr/>
        </p:nvSpPr>
        <p:spPr>
          <a:xfrm>
            <a:off x="3429000" y="1371600"/>
            <a:ext cx="2286000" cy="685800"/>
          </a:xfrm>
          <a:prstGeom prst="rect">
            <a:avLst/>
          </a:prstGeom>
          <a:noFill/>
          <a:ln/>
        </p:spPr>
        <p:txBody>
          <a:bodyPr wrap="square" lIns="0" tIns="0" rIns="0" bIns="0" rtlCol="0" anchor="t"/>
          <a:lstStyle/>
          <a:p>
            <a:pPr algn="l" indent="0" marL="0">
              <a:buNone/>
            </a:pPr>
            <a:r>
              <a:rPr lang="en-US" sz="4400" b="1" dirty="0">
                <a:solidFill>
                  <a:schemeClr val="tx1"/>
                </a:solidFill>
              </a:rPr>
              <a:t>0.4811</a:t>
            </a:r>
            <a:endParaRPr lang="en-US" sz="4400" dirty="0"/>
          </a:p>
        </p:txBody>
      </p:sp>
      <p:sp>
        <p:nvSpPr>
          <p:cNvPr id="10" name="Text 8"/>
          <p:cNvSpPr txBox="1"/>
          <p:nvPr/>
        </p:nvSpPr>
        <p:spPr>
          <a:xfrm>
            <a:off x="3429000" y="2103120"/>
            <a:ext cx="2377440" cy="274320"/>
          </a:xfrm>
          <a:prstGeom prst="rect">
            <a:avLst/>
          </a:prstGeom>
          <a:noFill/>
          <a:ln/>
        </p:spPr>
        <p:txBody>
          <a:bodyPr wrap="square" lIns="0" tIns="0" rIns="0" bIns="0" rtlCol="0" anchor="t"/>
          <a:lstStyle/>
          <a:p>
            <a:pPr algn="l" indent="0" marL="0">
              <a:buNone/>
            </a:pPr>
            <a:r>
              <a:rPr lang="en-US" sz="1300" dirty="0">
                <a:solidFill>
                  <a:schemeClr val="accent3"/>
                </a:solidFill>
              </a:rPr>
              <a:t>Macro F1  |  was 0.3888</a:t>
            </a:r>
            <a:endParaRPr lang="en-US" sz="1300" dirty="0"/>
          </a:p>
        </p:txBody>
      </p:sp>
      <p:sp>
        <p:nvSpPr>
          <p:cNvPr id="11" name="card"/>
          <p:cNvSpPr/>
          <p:nvPr/>
        </p:nvSpPr>
        <p:spPr>
          <a:xfrm>
            <a:off x="6126480" y="1051560"/>
            <a:ext cx="2560320" cy="1417320"/>
          </a:xfrm>
          <a:prstGeom prst="roundRect">
            <a:avLst>
              <a:gd name="adj" fmla="val 5161"/>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12" name="Text 10"/>
          <p:cNvSpPr txBox="1"/>
          <p:nvPr/>
        </p:nvSpPr>
        <p:spPr>
          <a:xfrm>
            <a:off x="6263640" y="1143000"/>
            <a:ext cx="2286000" cy="228600"/>
          </a:xfrm>
          <a:prstGeom prst="rect">
            <a:avLst/>
          </a:prstGeom>
          <a:noFill/>
          <a:ln/>
        </p:spPr>
        <p:txBody>
          <a:bodyPr wrap="square" lIns="0" tIns="0" rIns="0" bIns="0" rtlCol="0" anchor="t"/>
          <a:lstStyle/>
          <a:p>
            <a:pPr algn="l" indent="0" marL="0">
              <a:buNone/>
            </a:pPr>
            <a:r>
              <a:rPr lang="en-US" sz="1100" b="1" dirty="0">
                <a:solidFill>
                  <a:schemeClr val="accent1"/>
                </a:solidFill>
              </a:rPr>
              <a:t>EVIDENCE (TOKEN PROXY)</a:t>
            </a:r>
            <a:endParaRPr lang="en-US" sz="1100" dirty="0"/>
          </a:p>
        </p:txBody>
      </p:sp>
      <p:sp>
        <p:nvSpPr>
          <p:cNvPr id="13" name="Text 11"/>
          <p:cNvSpPr txBox="1"/>
          <p:nvPr/>
        </p:nvSpPr>
        <p:spPr>
          <a:xfrm>
            <a:off x="6263640" y="1371600"/>
            <a:ext cx="2286000" cy="685800"/>
          </a:xfrm>
          <a:prstGeom prst="rect">
            <a:avLst/>
          </a:prstGeom>
          <a:noFill/>
          <a:ln/>
        </p:spPr>
        <p:txBody>
          <a:bodyPr wrap="square" lIns="0" tIns="0" rIns="0" bIns="0" rtlCol="0" anchor="t"/>
          <a:lstStyle/>
          <a:p>
            <a:pPr algn="l" indent="0" marL="0">
              <a:buNone/>
            </a:pPr>
            <a:r>
              <a:rPr lang="en-US" sz="4400" b="1" dirty="0">
                <a:solidFill>
                  <a:schemeClr val="tx1"/>
                </a:solidFill>
              </a:rPr>
              <a:t>0.318</a:t>
            </a:r>
            <a:endParaRPr lang="en-US" sz="4400" dirty="0"/>
          </a:p>
        </p:txBody>
      </p:sp>
      <p:sp>
        <p:nvSpPr>
          <p:cNvPr id="14" name="Text 12"/>
          <p:cNvSpPr txBox="1"/>
          <p:nvPr/>
        </p:nvSpPr>
        <p:spPr>
          <a:xfrm>
            <a:off x="6263640" y="2103120"/>
            <a:ext cx="2377440" cy="274320"/>
          </a:xfrm>
          <a:prstGeom prst="rect">
            <a:avLst/>
          </a:prstGeom>
          <a:noFill/>
          <a:ln/>
        </p:spPr>
        <p:txBody>
          <a:bodyPr wrap="square" lIns="0" tIns="0" rIns="0" bIns="0" rtlCol="0" anchor="t"/>
          <a:lstStyle/>
          <a:p>
            <a:pPr algn="l" indent="0" marL="0">
              <a:buNone/>
            </a:pPr>
            <a:r>
              <a:rPr lang="en-US" sz="1300" dirty="0">
                <a:solidFill>
                  <a:schemeClr val="accent3"/>
                </a:solidFill>
              </a:rPr>
              <a:t>Token F1  |  was 0.229</a:t>
            </a:r>
            <a:endParaRPr lang="en-US" sz="1300" dirty="0"/>
          </a:p>
        </p:txBody>
      </p:sp>
      <p:graphicFrame>
        <p:nvGraphicFramePr>
          <p:cNvPr id="15" name="Chart 0" descr=""/>
          <p:cNvGraphicFramePr/>
          <p:nvPr/>
        </p:nvGraphicFramePr>
        <p:xfrm>
          <a:off x="457200" y="2606040"/>
          <a:ext cx="5120640" cy="210312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txBox="1"/>
          <p:nvPr/>
        </p:nvSpPr>
        <p:spPr>
          <a:xfrm>
            <a:off x="5852160" y="2697480"/>
            <a:ext cx="2834640" cy="274320"/>
          </a:xfrm>
          <a:prstGeom prst="rect">
            <a:avLst/>
          </a:prstGeom>
          <a:noFill/>
          <a:ln/>
        </p:spPr>
        <p:txBody>
          <a:bodyPr wrap="square" lIns="0" tIns="0" rIns="0" bIns="0" rtlCol="0" anchor="t"/>
          <a:lstStyle/>
          <a:p>
            <a:pPr algn="l" indent="0" marL="0">
              <a:buNone/>
            </a:pPr>
            <a:r>
              <a:rPr lang="en-US" sz="1400" b="1" dirty="0">
                <a:solidFill>
                  <a:schemeClr val="tx1"/>
                </a:solidFill>
              </a:rPr>
              <a:t>Evaluation basis</a:t>
            </a:r>
            <a:endParaRPr lang="en-US" sz="1400" dirty="0"/>
          </a:p>
        </p:txBody>
      </p:sp>
      <p:sp>
        <p:nvSpPr>
          <p:cNvPr id="17" name="Text 14"/>
          <p:cNvSpPr txBox="1"/>
          <p:nvPr/>
        </p:nvSpPr>
        <p:spPr>
          <a:xfrm>
            <a:off x="5852160" y="3017520"/>
            <a:ext cx="2834640" cy="16459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Held-out: 330 posts, 32 users, scored once</a:t>
            </a:r>
            <a:endParaRPr lang="en-US" sz="1200" dirty="0"/>
          </a:p>
          <a:p>
            <a:pPr marL="342900" indent="-342900">
              <a:spcAft>
                <a:spcPts val="600"/>
              </a:spcAft>
              <a:buSzPct val="100000"/>
              <a:buChar char="•"/>
            </a:pPr>
            <a:r>
              <a:rPr lang="en-US" sz="1200" dirty="0">
                <a:solidFill>
                  <a:schemeClr val="tx1"/>
                </a:solidFill>
              </a:rPr>
              <a:t>Risk accuracy 76.7% (95% CI 72.1–80.9)</a:t>
            </a:r>
            <a:endParaRPr lang="en-US" sz="1200" dirty="0"/>
          </a:p>
          <a:p>
            <a:pPr marL="342900" indent="-342900">
              <a:spcAft>
                <a:spcPts val="600"/>
              </a:spcAft>
              <a:buSzPct val="100000"/>
              <a:buChar char="•"/>
            </a:pPr>
            <a:r>
              <a:rPr lang="en-US" sz="1200" dirty="0">
                <a:solidFill>
                  <a:schemeClr val="tx1"/>
                </a:solidFill>
              </a:rPr>
              <a:t>“Was” = earlier pipeline re-run on this split</a:t>
            </a:r>
            <a:endParaRPr lang="en-US" sz="1200" dirty="0"/>
          </a:p>
          <a:p>
            <a:pPr marL="342900" indent="-342900">
              <a:spcAft>
                <a:spcPts val="600"/>
              </a:spcAft>
              <a:buSzPct val="100000"/>
              <a:buChar char="•"/>
            </a:pPr>
            <a:r>
              <a:rPr lang="en-US" sz="1200" dirty="0">
                <a:solidFill>
                  <a:schemeClr val="tx1"/>
                </a:solidFill>
              </a:rPr>
              <a:t>Local validation, not official scores</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Robust Validation Strategy</a:t>
            </a:r>
            <a:endParaRPr lang="en-US" sz="3000" dirty="0"/>
          </a:p>
        </p:txBody>
      </p:sp>
      <p:sp>
        <p:nvSpPr>
          <p:cNvPr id="3" name="stage"/>
          <p:cNvSpPr/>
          <p:nvPr/>
        </p:nvSpPr>
        <p:spPr>
          <a:xfrm>
            <a:off x="457200" y="1371600"/>
            <a:ext cx="1508760" cy="1371600"/>
          </a:xfrm>
          <a:prstGeom prst="roundRect">
            <a:avLst>
              <a:gd name="adj" fmla="val 5333"/>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4" name="Text 2"/>
          <p:cNvSpPr txBox="1"/>
          <p:nvPr/>
        </p:nvSpPr>
        <p:spPr>
          <a:xfrm>
            <a:off x="548640" y="1463040"/>
            <a:ext cx="1325880" cy="502920"/>
          </a:xfrm>
          <a:prstGeom prst="rect">
            <a:avLst/>
          </a:prstGeom>
          <a:noFill/>
          <a:ln/>
        </p:spPr>
        <p:txBody>
          <a:bodyPr wrap="square" lIns="0" tIns="0" rIns="0" bIns="0" rtlCol="0" anchor="t"/>
          <a:lstStyle/>
          <a:p>
            <a:pPr algn="ctr" indent="0" marL="0">
              <a:buNone/>
            </a:pPr>
            <a:r>
              <a:rPr lang="en-US" sz="1300" b="1" dirty="0">
                <a:solidFill>
                  <a:schemeClr val="tx1"/>
                </a:solidFill>
              </a:rPr>
              <a:t>Development set</a:t>
            </a:r>
            <a:endParaRPr lang="en-US" sz="1300" dirty="0"/>
          </a:p>
        </p:txBody>
      </p:sp>
      <p:sp>
        <p:nvSpPr>
          <p:cNvPr id="5" name="Text 3"/>
          <p:cNvSpPr txBox="1"/>
          <p:nvPr/>
        </p:nvSpPr>
        <p:spPr>
          <a:xfrm>
            <a:off x="548640" y="2011680"/>
            <a:ext cx="1325880" cy="685800"/>
          </a:xfrm>
          <a:prstGeom prst="rect">
            <a:avLst/>
          </a:prstGeom>
          <a:noFill/>
          <a:ln/>
        </p:spPr>
        <p:txBody>
          <a:bodyPr wrap="square" lIns="0" tIns="0" rIns="0" bIns="0" rtlCol="0" anchor="t"/>
          <a:lstStyle/>
          <a:p>
            <a:pPr algn="ctr" indent="0" marL="0">
              <a:buNone/>
            </a:pPr>
            <a:r>
              <a:rPr lang="en-US" sz="1100" dirty="0">
                <a:solidFill>
                  <a:schemeClr val="accent3"/>
                </a:solidFill>
              </a:rPr>
              <a:t>1,305 posts, 121 users</a:t>
            </a:r>
            <a:endParaRPr lang="en-US" sz="1100" dirty="0"/>
          </a:p>
        </p:txBody>
      </p:sp>
      <p:sp>
        <p:nvSpPr>
          <p:cNvPr id="6" name="Shape 4"/>
          <p:cNvSpPr/>
          <p:nvPr/>
        </p:nvSpPr>
        <p:spPr>
          <a:xfrm>
            <a:off x="1965960" y="2057400"/>
            <a:ext cx="182880" cy="0"/>
          </a:xfrm>
          <a:prstGeom prst="line">
            <a:avLst/>
          </a:prstGeom>
          <a:noFill/>
          <a:ln w="19050">
            <a:solidFill>
              <a:schemeClr val="accent3"/>
            </a:solidFill>
            <a:prstDash val="solid"/>
            <a:tailEnd type="triangle"/>
          </a:ln>
        </p:spPr>
      </p:sp>
      <p:sp>
        <p:nvSpPr>
          <p:cNvPr id="7" name="stage"/>
          <p:cNvSpPr/>
          <p:nvPr/>
        </p:nvSpPr>
        <p:spPr>
          <a:xfrm>
            <a:off x="2148840" y="1371600"/>
            <a:ext cx="1508760" cy="1371600"/>
          </a:xfrm>
          <a:prstGeom prst="roundRect">
            <a:avLst>
              <a:gd name="adj" fmla="val 5333"/>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8" name="Text 6"/>
          <p:cNvSpPr txBox="1"/>
          <p:nvPr/>
        </p:nvSpPr>
        <p:spPr>
          <a:xfrm>
            <a:off x="2240280" y="1463040"/>
            <a:ext cx="1325880" cy="502920"/>
          </a:xfrm>
          <a:prstGeom prst="rect">
            <a:avLst/>
          </a:prstGeom>
          <a:noFill/>
          <a:ln/>
        </p:spPr>
        <p:txBody>
          <a:bodyPr wrap="square" lIns="0" tIns="0" rIns="0" bIns="0" rtlCol="0" anchor="t"/>
          <a:lstStyle/>
          <a:p>
            <a:pPr algn="ctr" indent="0" marL="0">
              <a:buNone/>
            </a:pPr>
            <a:r>
              <a:rPr lang="en-US" sz="1300" b="1" dirty="0">
                <a:solidFill>
                  <a:schemeClr val="tx1"/>
                </a:solidFill>
              </a:rPr>
              <a:t>5-fold grouped CV</a:t>
            </a:r>
            <a:endParaRPr lang="en-US" sz="1300" dirty="0"/>
          </a:p>
        </p:txBody>
      </p:sp>
      <p:sp>
        <p:nvSpPr>
          <p:cNvPr id="9" name="Text 7"/>
          <p:cNvSpPr txBox="1"/>
          <p:nvPr/>
        </p:nvSpPr>
        <p:spPr>
          <a:xfrm>
            <a:off x="2240280" y="2011680"/>
            <a:ext cx="1325880" cy="685800"/>
          </a:xfrm>
          <a:prstGeom prst="rect">
            <a:avLst/>
          </a:prstGeom>
          <a:noFill/>
          <a:ln/>
        </p:spPr>
        <p:txBody>
          <a:bodyPr wrap="square" lIns="0" tIns="0" rIns="0" bIns="0" rtlCol="0" anchor="t"/>
          <a:lstStyle/>
          <a:p>
            <a:pPr algn="ctr" indent="0" marL="0">
              <a:buNone/>
            </a:pPr>
            <a:r>
              <a:rPr lang="en-US" sz="1100" dirty="0">
                <a:solidFill>
                  <a:schemeClr val="accent3"/>
                </a:solidFill>
              </a:rPr>
              <a:t>models never see a fold's users</a:t>
            </a:r>
            <a:endParaRPr lang="en-US" sz="1100" dirty="0"/>
          </a:p>
        </p:txBody>
      </p:sp>
      <p:sp>
        <p:nvSpPr>
          <p:cNvPr id="10" name="Shape 8"/>
          <p:cNvSpPr/>
          <p:nvPr/>
        </p:nvSpPr>
        <p:spPr>
          <a:xfrm>
            <a:off x="3657600" y="2057400"/>
            <a:ext cx="182880" cy="0"/>
          </a:xfrm>
          <a:prstGeom prst="line">
            <a:avLst/>
          </a:prstGeom>
          <a:noFill/>
          <a:ln w="19050">
            <a:solidFill>
              <a:schemeClr val="accent3"/>
            </a:solidFill>
            <a:prstDash val="solid"/>
            <a:tailEnd type="triangle"/>
          </a:ln>
        </p:spPr>
      </p:sp>
      <p:sp>
        <p:nvSpPr>
          <p:cNvPr id="11" name="stage"/>
          <p:cNvSpPr/>
          <p:nvPr/>
        </p:nvSpPr>
        <p:spPr>
          <a:xfrm>
            <a:off x="3840480" y="1371600"/>
            <a:ext cx="1508760" cy="1371600"/>
          </a:xfrm>
          <a:prstGeom prst="roundRect">
            <a:avLst>
              <a:gd name="adj" fmla="val 5333"/>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12" name="Text 10"/>
          <p:cNvSpPr txBox="1"/>
          <p:nvPr/>
        </p:nvSpPr>
        <p:spPr>
          <a:xfrm>
            <a:off x="3931920" y="1463040"/>
            <a:ext cx="1325880" cy="502920"/>
          </a:xfrm>
          <a:prstGeom prst="rect">
            <a:avLst/>
          </a:prstGeom>
          <a:noFill/>
          <a:ln/>
        </p:spPr>
        <p:txBody>
          <a:bodyPr wrap="square" lIns="0" tIns="0" rIns="0" bIns="0" rtlCol="0" anchor="t"/>
          <a:lstStyle/>
          <a:p>
            <a:pPr algn="ctr" indent="0" marL="0">
              <a:buNone/>
            </a:pPr>
            <a:r>
              <a:rPr lang="en-US" sz="1300" b="1" dirty="0">
                <a:solidFill>
                  <a:schemeClr val="tx1"/>
                </a:solidFill>
              </a:rPr>
              <a:t>OOF predictions</a:t>
            </a:r>
            <a:endParaRPr lang="en-US" sz="1300" dirty="0"/>
          </a:p>
        </p:txBody>
      </p:sp>
      <p:sp>
        <p:nvSpPr>
          <p:cNvPr id="13" name="Text 11"/>
          <p:cNvSpPr txBox="1"/>
          <p:nvPr/>
        </p:nvSpPr>
        <p:spPr>
          <a:xfrm>
            <a:off x="3931920" y="2011680"/>
            <a:ext cx="1325880" cy="685800"/>
          </a:xfrm>
          <a:prstGeom prst="rect">
            <a:avLst/>
          </a:prstGeom>
          <a:noFill/>
          <a:ln/>
        </p:spPr>
        <p:txBody>
          <a:bodyPr wrap="square" lIns="0" tIns="0" rIns="0" bIns="0" rtlCol="0" anchor="t"/>
          <a:lstStyle/>
          <a:p>
            <a:pPr algn="ctr" indent="0" marL="0">
              <a:buNone/>
            </a:pPr>
            <a:r>
              <a:rPr lang="en-US" sz="1100" dirty="0">
                <a:solidFill>
                  <a:schemeClr val="accent3"/>
                </a:solidFill>
              </a:rPr>
              <a:t>acc 75.5%, macro F1 71.4%</a:t>
            </a:r>
            <a:endParaRPr lang="en-US" sz="1100" dirty="0"/>
          </a:p>
        </p:txBody>
      </p:sp>
      <p:sp>
        <p:nvSpPr>
          <p:cNvPr id="14" name="Shape 12"/>
          <p:cNvSpPr/>
          <p:nvPr/>
        </p:nvSpPr>
        <p:spPr>
          <a:xfrm>
            <a:off x="5349240" y="2057400"/>
            <a:ext cx="182880" cy="0"/>
          </a:xfrm>
          <a:prstGeom prst="line">
            <a:avLst/>
          </a:prstGeom>
          <a:noFill/>
          <a:ln w="19050">
            <a:solidFill>
              <a:schemeClr val="accent3"/>
            </a:solidFill>
            <a:prstDash val="solid"/>
            <a:tailEnd type="triangle"/>
          </a:ln>
        </p:spPr>
      </p:sp>
      <p:sp>
        <p:nvSpPr>
          <p:cNvPr id="15" name="stage"/>
          <p:cNvSpPr/>
          <p:nvPr/>
        </p:nvSpPr>
        <p:spPr>
          <a:xfrm>
            <a:off x="5532120" y="1371600"/>
            <a:ext cx="1508760" cy="1371600"/>
          </a:xfrm>
          <a:prstGeom prst="roundRect">
            <a:avLst>
              <a:gd name="adj" fmla="val 5333"/>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16" name="Text 14"/>
          <p:cNvSpPr txBox="1"/>
          <p:nvPr/>
        </p:nvSpPr>
        <p:spPr>
          <a:xfrm>
            <a:off x="5623560" y="1463040"/>
            <a:ext cx="1325880" cy="502920"/>
          </a:xfrm>
          <a:prstGeom prst="rect">
            <a:avLst/>
          </a:prstGeom>
          <a:noFill/>
          <a:ln/>
        </p:spPr>
        <p:txBody>
          <a:bodyPr wrap="square" lIns="0" tIns="0" rIns="0" bIns="0" rtlCol="0" anchor="t"/>
          <a:lstStyle/>
          <a:p>
            <a:pPr algn="ctr" indent="0" marL="0">
              <a:buNone/>
            </a:pPr>
            <a:r>
              <a:rPr lang="en-US" sz="1300" b="1" dirty="0">
                <a:solidFill>
                  <a:schemeClr val="tx1"/>
                </a:solidFill>
              </a:rPr>
              <a:t>Choices on OOF only</a:t>
            </a:r>
            <a:endParaRPr lang="en-US" sz="1300" dirty="0"/>
          </a:p>
        </p:txBody>
      </p:sp>
      <p:sp>
        <p:nvSpPr>
          <p:cNvPr id="17" name="Text 15"/>
          <p:cNvSpPr txBox="1"/>
          <p:nvPr/>
        </p:nvSpPr>
        <p:spPr>
          <a:xfrm>
            <a:off x="5623560" y="2011680"/>
            <a:ext cx="1325880" cy="685800"/>
          </a:xfrm>
          <a:prstGeom prst="rect">
            <a:avLst/>
          </a:prstGeom>
          <a:noFill/>
          <a:ln/>
        </p:spPr>
        <p:txBody>
          <a:bodyPr wrap="square" lIns="0" tIns="0" rIns="0" bIns="0" rtlCol="0" anchor="t"/>
          <a:lstStyle/>
          <a:p>
            <a:pPr algn="ctr" indent="0" marL="0">
              <a:buNone/>
            </a:pPr>
            <a:r>
              <a:rPr lang="en-US" sz="1100" dirty="0">
                <a:solidFill>
                  <a:schemeClr val="accent3"/>
                </a:solidFill>
              </a:rPr>
              <a:t>blend w = 0.20; factor thresholds</a:t>
            </a:r>
            <a:endParaRPr lang="en-US" sz="1100" dirty="0"/>
          </a:p>
        </p:txBody>
      </p:sp>
      <p:sp>
        <p:nvSpPr>
          <p:cNvPr id="18" name="Shape 16"/>
          <p:cNvSpPr/>
          <p:nvPr/>
        </p:nvSpPr>
        <p:spPr>
          <a:xfrm>
            <a:off x="7040880" y="2057400"/>
            <a:ext cx="182880" cy="0"/>
          </a:xfrm>
          <a:prstGeom prst="line">
            <a:avLst/>
          </a:prstGeom>
          <a:noFill/>
          <a:ln w="19050">
            <a:solidFill>
              <a:schemeClr val="accent3"/>
            </a:solidFill>
            <a:prstDash val="solid"/>
            <a:tailEnd type="triangle"/>
          </a:ln>
        </p:spPr>
      </p:sp>
      <p:sp>
        <p:nvSpPr>
          <p:cNvPr id="19" name="stage"/>
          <p:cNvSpPr/>
          <p:nvPr/>
        </p:nvSpPr>
        <p:spPr>
          <a:xfrm>
            <a:off x="7223760" y="1371600"/>
            <a:ext cx="1508760" cy="1371600"/>
          </a:xfrm>
          <a:prstGeom prst="roundRect">
            <a:avLst>
              <a:gd name="adj" fmla="val 5333"/>
            </a:avLst>
          </a:prstGeom>
          <a:solidFill>
            <a:schemeClr val="accent1"/>
          </a:solidFill>
          <a:ln w="12700">
            <a:solidFill>
              <a:schemeClr val="accent1"/>
            </a:solidFill>
          </a:ln>
        </p:spPr>
        <p:txBody>
          <a:bodyPr wrap="square" lIns="762" tIns="762" rIns="762" bIns="762" rtlCol="0" anchor="ctr"/>
          <a:lstStyle/>
          <a:p>
            <a:pPr algn="ctr" indent="0" marL="0">
              <a:buNone/>
            </a:pPr>
            <a:endParaRPr lang="en-US" sz="1200" dirty="0"/>
          </a:p>
        </p:txBody>
      </p:sp>
      <p:sp>
        <p:nvSpPr>
          <p:cNvPr id="20" name="Text 18"/>
          <p:cNvSpPr txBox="1"/>
          <p:nvPr/>
        </p:nvSpPr>
        <p:spPr>
          <a:xfrm>
            <a:off x="7315200" y="1463040"/>
            <a:ext cx="1325880" cy="502920"/>
          </a:xfrm>
          <a:prstGeom prst="rect">
            <a:avLst/>
          </a:prstGeom>
          <a:noFill/>
          <a:ln/>
        </p:spPr>
        <p:txBody>
          <a:bodyPr wrap="square" lIns="0" tIns="0" rIns="0" bIns="0" rtlCol="0" anchor="t"/>
          <a:lstStyle/>
          <a:p>
            <a:pPr algn="ctr" indent="0" marL="0">
              <a:buNone/>
            </a:pPr>
            <a:r>
              <a:rPr lang="en-US" sz="1300" b="1" dirty="0">
                <a:solidFill>
                  <a:schemeClr val="bg1"/>
                </a:solidFill>
              </a:rPr>
              <a:t>Held-out, scored once</a:t>
            </a:r>
            <a:endParaRPr lang="en-US" sz="1300" dirty="0"/>
          </a:p>
        </p:txBody>
      </p:sp>
      <p:sp>
        <p:nvSpPr>
          <p:cNvPr id="21" name="Text 19"/>
          <p:cNvSpPr txBox="1"/>
          <p:nvPr/>
        </p:nvSpPr>
        <p:spPr>
          <a:xfrm>
            <a:off x="7315200" y="2011680"/>
            <a:ext cx="1325880" cy="685800"/>
          </a:xfrm>
          <a:prstGeom prst="rect">
            <a:avLst/>
          </a:prstGeom>
          <a:noFill/>
          <a:ln/>
        </p:spPr>
        <p:txBody>
          <a:bodyPr wrap="square" lIns="0" tIns="0" rIns="0" bIns="0" rtlCol="0" anchor="t"/>
          <a:lstStyle/>
          <a:p>
            <a:pPr algn="ctr" indent="0" marL="0">
              <a:buNone/>
            </a:pPr>
            <a:r>
              <a:rPr lang="en-US" sz="1100" dirty="0">
                <a:solidFill>
                  <a:schemeClr val="bg1"/>
                </a:solidFill>
              </a:rPr>
              <a:t>acc 76.7%, macro F1 75.1%</a:t>
            </a:r>
            <a:endParaRPr lang="en-US" sz="1100" dirty="0"/>
          </a:p>
        </p:txBody>
      </p:sp>
      <p:sp>
        <p:nvSpPr>
          <p:cNvPr id="22" name="Text 20"/>
          <p:cNvSpPr txBox="1"/>
          <p:nvPr/>
        </p:nvSpPr>
        <p:spPr>
          <a:xfrm>
            <a:off x="457200" y="3017520"/>
            <a:ext cx="822960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No user appears on both sides of any split</a:t>
            </a:r>
            <a:endParaRPr lang="en-US" sz="1400" dirty="0"/>
          </a:p>
          <a:p>
            <a:pPr marL="342900" indent="-342900">
              <a:spcAft>
                <a:spcPts val="600"/>
              </a:spcAft>
              <a:buSzPct val="100000"/>
              <a:buChar char="•"/>
            </a:pPr>
            <a:r>
              <a:rPr lang="en-US" sz="1400" dirty="0">
                <a:solidFill>
                  <a:schemeClr val="tx1"/>
                </a:solidFill>
              </a:rPr>
              <a:t>Confidence intervals resample users (2,000 bootstraps)</a:t>
            </a:r>
            <a:endParaRPr lang="en-US" sz="1400" dirty="0"/>
          </a:p>
          <a:p>
            <a:pPr marL="342900" indent="-342900">
              <a:spcAft>
                <a:spcPts val="600"/>
              </a:spcAft>
              <a:buSzPct val="100000"/>
              <a:buChar char="•"/>
            </a:pPr>
            <a:r>
              <a:rPr lang="en-US" sz="1400" dirty="0">
                <a:solidFill>
                  <a:schemeClr val="tx1"/>
                </a:solidFill>
              </a:rPr>
              <a:t>OOF is slightly optimistic: best epoch is picked per fold</a:t>
            </a:r>
            <a:endParaRPr lang="en-US" sz="1400" dirty="0"/>
          </a:p>
          <a:p>
            <a:pPr marL="342900" indent="-342900">
              <a:spcAft>
                <a:spcPts val="600"/>
              </a:spcAft>
              <a:buSzPct val="100000"/>
              <a:buChar char="•"/>
            </a:pPr>
            <a:r>
              <a:rPr lang="en-US" sz="1400" dirty="0">
                <a:solidFill>
                  <a:schemeClr val="tx1"/>
                </a:solidFill>
              </a:rPr>
              <a:t>One split seed (42); earlier multi-seed checks were not repeated</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What the Results Tell Us</a:t>
            </a:r>
            <a:endParaRPr lang="en-US" sz="3000" dirty="0"/>
          </a:p>
        </p:txBody>
      </p:sp>
      <p:sp>
        <p:nvSpPr>
          <p:cNvPr id="3" name="Shape 1"/>
          <p:cNvSpPr/>
          <p:nvPr/>
        </p:nvSpPr>
        <p:spPr>
          <a:xfrm>
            <a:off x="457200" y="1097280"/>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457200" y="10972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143000" y="1051560"/>
            <a:ext cx="7498080" cy="594360"/>
          </a:xfrm>
          <a:prstGeom prst="rect">
            <a:avLst/>
          </a:prstGeom>
          <a:noFill/>
          <a:ln/>
        </p:spPr>
        <p:txBody>
          <a:bodyPr wrap="square" lIns="0" tIns="0" rIns="0" bIns="0" rtlCol="0" anchor="ctr"/>
          <a:lstStyle/>
          <a:p>
            <a:pPr algn="l" indent="0" marL="0">
              <a:buNone/>
            </a:pPr>
            <a:r>
              <a:rPr lang="en-US" sz="1500" b="1" dirty="0">
                <a:solidFill>
                  <a:schemeClr val="tx1"/>
                </a:solidFill>
              </a:rPr>
              <a:t>The encoder drives the risk gain.</a:t>
            </a:r>
            <a:endParaRPr lang="en-US" sz="1500" dirty="0"/>
          </a:p>
          <a:p>
            <a:pPr algn="l" indent="0" marL="0">
              <a:buNone/>
            </a:pPr>
            <a:r>
              <a:rPr lang="en-US" sz="1300" dirty="0">
                <a:solidFill>
                  <a:schemeClr val="accent3"/>
                </a:solidFill>
              </a:rPr>
              <a:t>About +14 accuracy points; blend not demonstrated.</a:t>
            </a:r>
            <a:endParaRPr lang="en-US" sz="1500" dirty="0"/>
          </a:p>
        </p:txBody>
      </p:sp>
      <p:sp>
        <p:nvSpPr>
          <p:cNvPr id="6" name="Shape 4"/>
          <p:cNvSpPr/>
          <p:nvPr/>
        </p:nvSpPr>
        <p:spPr>
          <a:xfrm>
            <a:off x="457200" y="1828800"/>
            <a:ext cx="457200" cy="457200"/>
          </a:xfrm>
          <a:prstGeom prst="ellipse">
            <a:avLst/>
          </a:prstGeom>
          <a:solidFill>
            <a:schemeClr val="accent1"/>
          </a:solidFill>
          <a:ln w="12700">
            <a:solidFill>
              <a:schemeClr val="accent1"/>
            </a:solidFill>
            <a:prstDash val="solid"/>
          </a:ln>
        </p:spPr>
      </p:sp>
      <p:sp>
        <p:nvSpPr>
          <p:cNvPr id="7" name="Text 5"/>
          <p:cNvSpPr txBox="1"/>
          <p:nvPr/>
        </p:nvSpPr>
        <p:spPr>
          <a:xfrm>
            <a:off x="457200"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 6"/>
          <p:cNvSpPr txBox="1"/>
          <p:nvPr/>
        </p:nvSpPr>
        <p:spPr>
          <a:xfrm>
            <a:off x="1143000" y="1783080"/>
            <a:ext cx="7498080" cy="594360"/>
          </a:xfrm>
          <a:prstGeom prst="rect">
            <a:avLst/>
          </a:prstGeom>
          <a:noFill/>
          <a:ln/>
        </p:spPr>
        <p:txBody>
          <a:bodyPr wrap="square" lIns="0" tIns="0" rIns="0" bIns="0" rtlCol="0" anchor="ctr"/>
          <a:lstStyle/>
          <a:p>
            <a:pPr algn="l" indent="0" marL="0">
              <a:buNone/>
            </a:pPr>
            <a:r>
              <a:rPr lang="en-US" sz="1500" b="1" dirty="0">
                <a:solidFill>
                  <a:schemeClr val="tx1"/>
                </a:solidFill>
              </a:rPr>
              <a:t>Behavior and Attempt improve most.</a:t>
            </a:r>
            <a:endParaRPr lang="en-US" sz="1500" dirty="0"/>
          </a:p>
          <a:p>
            <a:pPr algn="l" indent="0" marL="0">
              <a:buNone/>
            </a:pPr>
            <a:r>
              <a:rPr lang="en-US" sz="1300" dirty="0">
                <a:solidFill>
                  <a:schemeClr val="accent3"/>
                </a:solidFill>
              </a:rPr>
              <a:t>F1 +0.28 and +0.30; Attempt has only 20 held-out posts.</a:t>
            </a:r>
            <a:endParaRPr lang="en-US" sz="1500" dirty="0"/>
          </a:p>
        </p:txBody>
      </p:sp>
      <p:sp>
        <p:nvSpPr>
          <p:cNvPr id="9" name="Shape 7"/>
          <p:cNvSpPr/>
          <p:nvPr/>
        </p:nvSpPr>
        <p:spPr>
          <a:xfrm>
            <a:off x="457200" y="2560320"/>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Text 9"/>
          <p:cNvSpPr txBox="1"/>
          <p:nvPr/>
        </p:nvSpPr>
        <p:spPr>
          <a:xfrm>
            <a:off x="1143000" y="2514600"/>
            <a:ext cx="7498080" cy="594360"/>
          </a:xfrm>
          <a:prstGeom prst="rect">
            <a:avLst/>
          </a:prstGeom>
          <a:noFill/>
          <a:ln/>
        </p:spPr>
        <p:txBody>
          <a:bodyPr wrap="square" lIns="0" tIns="0" rIns="0" bIns="0" rtlCol="0" anchor="ctr"/>
          <a:lstStyle/>
          <a:p>
            <a:pPr algn="l" indent="0" marL="0">
              <a:buNone/>
            </a:pPr>
            <a:r>
              <a:rPr lang="en-US" sz="1500" b="1" dirty="0">
                <a:solidFill>
                  <a:schemeClr val="tx1"/>
                </a:solidFill>
              </a:rPr>
              <a:t>80.5% of errors are between adjacent levels.</a:t>
            </a:r>
            <a:endParaRPr lang="en-US" sz="1500" dirty="0"/>
          </a:p>
          <a:p>
            <a:pPr algn="l" indent="0" marL="0">
              <a:buNone/>
            </a:pPr>
            <a:r>
              <a:rPr lang="en-US" sz="1300" dirty="0">
                <a:solidFill>
                  <a:schemeClr val="accent3"/>
                </a:solidFill>
              </a:rPr>
              <a:t>Largest confusion: Indicator predicted as Ideation (21 posts).</a:t>
            </a:r>
            <a:endParaRPr lang="en-US" sz="1500" dirty="0"/>
          </a:p>
        </p:txBody>
      </p:sp>
      <p:sp>
        <p:nvSpPr>
          <p:cNvPr id="12" name="Shape 10"/>
          <p:cNvSpPr/>
          <p:nvPr/>
        </p:nvSpPr>
        <p:spPr>
          <a:xfrm>
            <a:off x="457200" y="3291840"/>
            <a:ext cx="457200" cy="457200"/>
          </a:xfrm>
          <a:prstGeom prst="ellipse">
            <a:avLst/>
          </a:prstGeom>
          <a:solidFill>
            <a:schemeClr val="accent1"/>
          </a:solidFill>
          <a:ln w="12700">
            <a:solidFill>
              <a:schemeClr val="accent1"/>
            </a:solidFill>
            <a:prstDash val="solid"/>
          </a:ln>
        </p:spPr>
      </p:sp>
      <p:sp>
        <p:nvSpPr>
          <p:cNvPr id="13" name="Text 11"/>
          <p:cNvSpPr txBox="1"/>
          <p:nvPr/>
        </p:nvSpPr>
        <p:spPr>
          <a:xfrm>
            <a:off x="457200" y="32918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Text 12"/>
          <p:cNvSpPr txBox="1"/>
          <p:nvPr/>
        </p:nvSpPr>
        <p:spPr>
          <a:xfrm>
            <a:off x="1143000" y="3246120"/>
            <a:ext cx="7498080" cy="594360"/>
          </a:xfrm>
          <a:prstGeom prst="rect">
            <a:avLst/>
          </a:prstGeom>
          <a:noFill/>
          <a:ln/>
        </p:spPr>
        <p:txBody>
          <a:bodyPr wrap="square" lIns="0" tIns="0" rIns="0" bIns="0" rtlCol="0" anchor="ctr"/>
          <a:lstStyle/>
          <a:p>
            <a:pPr algn="l" indent="0" marL="0">
              <a:buNone/>
            </a:pPr>
            <a:r>
              <a:rPr lang="en-US" sz="1500" b="1" dirty="0">
                <a:solidFill>
                  <a:schemeClr val="tx1"/>
                </a:solidFill>
              </a:rPr>
              <a:t>A claimed gain did not survive stricter tuning.</a:t>
            </a:r>
            <a:endParaRPr lang="en-US" sz="1500" dirty="0"/>
          </a:p>
          <a:p>
            <a:pPr algn="l" indent="0" marL="0">
              <a:buNone/>
            </a:pPr>
            <a:r>
              <a:rPr lang="en-US" sz="1300" dirty="0">
                <a:solidFill>
                  <a:schemeClr val="accent3"/>
                </a:solidFill>
              </a:rPr>
              <a:t>Per-factor thresholds: no gain for the classical model once cross-fitted.</a:t>
            </a:r>
            <a:endParaRPr lang="en-US" sz="1500" dirty="0"/>
          </a:p>
        </p:txBody>
      </p:sp>
      <p:sp>
        <p:nvSpPr>
          <p:cNvPr id="15" name="Shape 13"/>
          <p:cNvSpPr/>
          <p:nvPr/>
        </p:nvSpPr>
        <p:spPr>
          <a:xfrm>
            <a:off x="457200" y="4023360"/>
            <a:ext cx="457200" cy="457200"/>
          </a:xfrm>
          <a:prstGeom prst="ellipse">
            <a:avLst/>
          </a:prstGeom>
          <a:solidFill>
            <a:schemeClr val="accent1"/>
          </a:solidFill>
          <a:ln w="12700">
            <a:solidFill>
              <a:schemeClr val="accent1"/>
            </a:solidFill>
            <a:prstDash val="solid"/>
          </a:ln>
        </p:spPr>
      </p:sp>
      <p:sp>
        <p:nvSpPr>
          <p:cNvPr id="16" name="Text 14"/>
          <p:cNvSpPr txBox="1"/>
          <p:nvPr/>
        </p:nvSpPr>
        <p:spPr>
          <a:xfrm>
            <a:off x="457200" y="4023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7" name="Text 15"/>
          <p:cNvSpPr txBox="1"/>
          <p:nvPr/>
        </p:nvSpPr>
        <p:spPr>
          <a:xfrm>
            <a:off x="1143000" y="3977640"/>
            <a:ext cx="7498080" cy="594360"/>
          </a:xfrm>
          <a:prstGeom prst="rect">
            <a:avLst/>
          </a:prstGeom>
          <a:noFill/>
          <a:ln/>
        </p:spPr>
        <p:txBody>
          <a:bodyPr wrap="square" lIns="0" tIns="0" rIns="0" bIns="0" rtlCol="0" anchor="ctr"/>
          <a:lstStyle/>
          <a:p>
            <a:pPr algn="l" indent="0" marL="0">
              <a:buNone/>
            </a:pPr>
            <a:r>
              <a:rPr lang="en-US" sz="1500" b="1" dirty="0">
                <a:solidFill>
                  <a:schemeClr val="tx1"/>
                </a:solidFill>
              </a:rPr>
              <a:t>Evidence improves on a proxy metric only.</a:t>
            </a:r>
            <a:endParaRPr lang="en-US" sz="1500" dirty="0"/>
          </a:p>
          <a:p>
            <a:pPr algn="l" indent="0" marL="0">
              <a:buNone/>
            </a:pPr>
            <a:r>
              <a:rPr lang="en-US" sz="1300" dirty="0">
                <a:solidFill>
                  <a:schemeClr val="accent3"/>
                </a:solidFill>
              </a:rPr>
              <a:t>Token F1 0.318 vs 0.229; Phrase F1 was not measured.</a:t>
            </a:r>
            <a:endParaRPr lang="en-US" sz="15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Limitations and Responsible Use</a:t>
            </a:r>
            <a:endParaRPr lang="en-US" sz="3000" dirty="0"/>
          </a:p>
        </p:txBody>
      </p:sp>
      <p:sp>
        <p:nvSpPr>
          <p:cNvPr id="3" name="card"/>
          <p:cNvSpPr/>
          <p:nvPr/>
        </p:nvSpPr>
        <p:spPr>
          <a:xfrm>
            <a:off x="457200" y="1051560"/>
            <a:ext cx="4023360" cy="3520440"/>
          </a:xfrm>
          <a:prstGeom prst="roundRect">
            <a:avLst>
              <a:gd name="adj" fmla="val 2078"/>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4" name="card"/>
          <p:cNvSpPr/>
          <p:nvPr/>
        </p:nvSpPr>
        <p:spPr>
          <a:xfrm>
            <a:off x="4663440" y="1051560"/>
            <a:ext cx="4023360" cy="3520440"/>
          </a:xfrm>
          <a:prstGeom prst="roundRect">
            <a:avLst>
              <a:gd name="adj" fmla="val 2078"/>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5" name="Text 3"/>
          <p:cNvSpPr txBox="1"/>
          <p:nvPr/>
        </p:nvSpPr>
        <p:spPr>
          <a:xfrm>
            <a:off x="640080" y="1143000"/>
            <a:ext cx="3657600" cy="320040"/>
          </a:xfrm>
          <a:prstGeom prst="rect">
            <a:avLst/>
          </a:prstGeom>
          <a:noFill/>
          <a:ln/>
        </p:spPr>
        <p:txBody>
          <a:bodyPr wrap="square" lIns="0" tIns="0" rIns="0" bIns="0" rtlCol="0" anchor="t"/>
          <a:lstStyle/>
          <a:p>
            <a:pPr algn="l" indent="0" marL="0">
              <a:buNone/>
            </a:pPr>
            <a:r>
              <a:rPr lang="en-US" sz="1600" b="1" dirty="0">
                <a:solidFill>
                  <a:schemeClr val="accent2"/>
                </a:solidFill>
              </a:rPr>
              <a:t>Technical limitations</a:t>
            </a:r>
            <a:endParaRPr lang="en-US" sz="1600" dirty="0"/>
          </a:p>
        </p:txBody>
      </p:sp>
      <p:sp>
        <p:nvSpPr>
          <p:cNvPr id="6" name="Text 4"/>
          <p:cNvSpPr txBox="1"/>
          <p:nvPr/>
        </p:nvSpPr>
        <p:spPr>
          <a:xfrm>
            <a:off x="640080" y="1554480"/>
            <a:ext cx="3657600" cy="2926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Held-out is small: 330 posts, 32 users; Attempt n = 20</a:t>
            </a:r>
            <a:endParaRPr lang="en-US" sz="1400" dirty="0"/>
          </a:p>
          <a:p>
            <a:pPr marL="342900" indent="-342900">
              <a:spcAft>
                <a:spcPts val="600"/>
              </a:spcAft>
              <a:buSzPct val="100000"/>
              <a:buChar char="•"/>
            </a:pPr>
            <a:r>
              <a:rPr lang="en-US" sz="1400" dirty="0">
                <a:solidFill>
                  <a:schemeClr val="tx1"/>
                </a:solidFill>
              </a:rPr>
              <a:t>One split seed; DeBERTa-v3 run failed (no result)</a:t>
            </a:r>
            <a:endParaRPr lang="en-US" sz="1400" dirty="0"/>
          </a:p>
          <a:p>
            <a:pPr marL="342900" indent="-342900">
              <a:spcAft>
                <a:spcPts val="600"/>
              </a:spcAft>
              <a:buSzPct val="100000"/>
              <a:buChar char="•"/>
            </a:pPr>
            <a:r>
              <a:rPr lang="en-US" sz="1400" dirty="0">
                <a:solidFill>
                  <a:schemeClr val="tx1"/>
                </a:solidFill>
              </a:rPr>
              <a:t>Evidence: token proxy only; LLM Phrase F1 not measured</a:t>
            </a:r>
            <a:endParaRPr lang="en-US" sz="1400" dirty="0"/>
          </a:p>
          <a:p>
            <a:pPr marL="342900" indent="-342900">
              <a:spcAft>
                <a:spcPts val="600"/>
              </a:spcAft>
              <a:buSzPct val="100000"/>
              <a:buChar char="•"/>
            </a:pPr>
            <a:r>
              <a:rPr lang="en-US" sz="1400" dirty="0">
                <a:solidFill>
                  <a:schemeClr val="tx1"/>
                </a:solidFill>
              </a:rPr>
              <a:t>Rare factors remain weak and over-predicted</a:t>
            </a:r>
            <a:endParaRPr lang="en-US" sz="1400" dirty="0"/>
          </a:p>
          <a:p>
            <a:pPr marL="342900" indent="-342900">
              <a:spcAft>
                <a:spcPts val="600"/>
              </a:spcAft>
              <a:buSzPct val="100000"/>
              <a:buChar char="•"/>
            </a:pPr>
            <a:r>
              <a:rPr lang="en-US" sz="1400" dirty="0">
                <a:solidFill>
                  <a:schemeClr val="tx1"/>
                </a:solidFill>
              </a:rPr>
              <a:t>Local validation may differ from the leaderboard</a:t>
            </a:r>
            <a:endParaRPr lang="en-US" sz="1400" dirty="0"/>
          </a:p>
        </p:txBody>
      </p:sp>
      <p:sp>
        <p:nvSpPr>
          <p:cNvPr id="7" name="Text 5"/>
          <p:cNvSpPr txBox="1"/>
          <p:nvPr/>
        </p:nvSpPr>
        <p:spPr>
          <a:xfrm>
            <a:off x="4846320" y="1143000"/>
            <a:ext cx="3657600" cy="320040"/>
          </a:xfrm>
          <a:prstGeom prst="rect">
            <a:avLst/>
          </a:prstGeom>
          <a:noFill/>
          <a:ln/>
        </p:spPr>
        <p:txBody>
          <a:bodyPr wrap="square" lIns="0" tIns="0" rIns="0" bIns="0" rtlCol="0" anchor="t"/>
          <a:lstStyle/>
          <a:p>
            <a:pPr algn="l" indent="0" marL="0">
              <a:buNone/>
            </a:pPr>
            <a:r>
              <a:rPr lang="en-US" sz="1600" b="1" dirty="0">
                <a:solidFill>
                  <a:schemeClr val="accent1"/>
                </a:solidFill>
              </a:rPr>
              <a:t>Responsible use</a:t>
            </a:r>
            <a:endParaRPr lang="en-US" sz="1600" dirty="0"/>
          </a:p>
        </p:txBody>
      </p:sp>
      <p:sp>
        <p:nvSpPr>
          <p:cNvPr id="8" name="Text 6"/>
          <p:cNvSpPr txBox="1"/>
          <p:nvPr/>
        </p:nvSpPr>
        <p:spPr>
          <a:xfrm>
            <a:off x="4846320" y="1554480"/>
            <a:ext cx="3657600" cy="2926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Research prototype, not a clinical diagnostic tool</a:t>
            </a:r>
            <a:endParaRPr lang="en-US" sz="1400" dirty="0"/>
          </a:p>
          <a:p>
            <a:pPr marL="342900" indent="-342900">
              <a:spcAft>
                <a:spcPts val="600"/>
              </a:spcAft>
              <a:buSzPct val="100000"/>
              <a:buChar char="•"/>
            </a:pPr>
            <a:r>
              <a:rPr lang="en-US" sz="1400" dirty="0">
                <a:solidFill>
                  <a:schemeClr val="tx1"/>
                </a:solidFill>
              </a:rPr>
              <a:t>Supports trained human review; never autonomous action</a:t>
            </a:r>
            <a:endParaRPr lang="en-US" sz="1400" dirty="0"/>
          </a:p>
          <a:p>
            <a:pPr marL="342900" indent="-342900">
              <a:spcAft>
                <a:spcPts val="600"/>
              </a:spcAft>
              <a:buSzPct val="100000"/>
              <a:buChar char="•"/>
            </a:pPr>
            <a:r>
              <a:rPr lang="en-US" sz="1400" dirty="0">
                <a:solidFill>
                  <a:schemeClr val="tx1"/>
                </a:solidFill>
              </a:rPr>
              <a:t>Evidence step sends post text to an external LLM API: needs data-use approval or a local model</a:t>
            </a:r>
            <a:endParaRPr lang="en-US" sz="1400" dirty="0"/>
          </a:p>
          <a:p>
            <a:pPr marL="342900" indent="-342900">
              <a:spcAft>
                <a:spcPts val="600"/>
              </a:spcAft>
              <a:buSzPct val="100000"/>
              <a:buChar char="•"/>
            </a:pPr>
            <a:r>
              <a:rPr lang="en-US" sz="1400" dirty="0">
                <a:solidFill>
                  <a:schemeClr val="tx1"/>
                </a:solidFill>
              </a:rPr>
              <a:t>About 1 in 4 held-out posts is misclassified</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Future Research Directions</a:t>
            </a:r>
            <a:endParaRPr lang="en-US" sz="3000" dirty="0"/>
          </a:p>
        </p:txBody>
      </p:sp>
      <p:sp>
        <p:nvSpPr>
          <p:cNvPr id="3" name="card"/>
          <p:cNvSpPr/>
          <p:nvPr/>
        </p:nvSpPr>
        <p:spPr>
          <a:xfrm>
            <a:off x="457200" y="1051560"/>
            <a:ext cx="4023360" cy="3520440"/>
          </a:xfrm>
          <a:prstGeom prst="roundRect">
            <a:avLst>
              <a:gd name="adj" fmla="val 2078"/>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4" name="card"/>
          <p:cNvSpPr/>
          <p:nvPr/>
        </p:nvSpPr>
        <p:spPr>
          <a:xfrm>
            <a:off x="4663440" y="1051560"/>
            <a:ext cx="4023360" cy="3520440"/>
          </a:xfrm>
          <a:prstGeom prst="roundRect">
            <a:avLst>
              <a:gd name="adj" fmla="val 2078"/>
            </a:avLst>
          </a:prstGeom>
          <a:solidFill>
            <a:schemeClr val="bg2"/>
          </a:solidFill>
          <a:ln w="12700">
            <a:solidFill>
              <a:schemeClr val="bg2"/>
            </a:solidFill>
          </a:ln>
        </p:spPr>
        <p:txBody>
          <a:bodyPr wrap="square" lIns="762" tIns="762" rIns="762" bIns="762" rtlCol="0" anchor="ctr"/>
          <a:lstStyle/>
          <a:p>
            <a:pPr algn="ctr" indent="0" marL="0">
              <a:buNone/>
            </a:pPr>
            <a:endParaRPr lang="en-US" sz="1200" dirty="0"/>
          </a:p>
        </p:txBody>
      </p:sp>
      <p:sp>
        <p:nvSpPr>
          <p:cNvPr id="5" name="Text 3"/>
          <p:cNvSpPr txBox="1"/>
          <p:nvPr/>
        </p:nvSpPr>
        <p:spPr>
          <a:xfrm>
            <a:off x="640080" y="1143000"/>
            <a:ext cx="3657600" cy="320040"/>
          </a:xfrm>
          <a:prstGeom prst="rect">
            <a:avLst/>
          </a:prstGeom>
          <a:noFill/>
          <a:ln/>
        </p:spPr>
        <p:txBody>
          <a:bodyPr wrap="square" lIns="0" tIns="0" rIns="0" bIns="0" rtlCol="0" anchor="t"/>
          <a:lstStyle/>
          <a:p>
            <a:pPr algn="l" indent="0" marL="0">
              <a:buNone/>
            </a:pPr>
            <a:r>
              <a:rPr lang="en-US" sz="1600" b="1" dirty="0">
                <a:solidFill>
                  <a:schemeClr val="accent5"/>
                </a:solidFill>
              </a:rPr>
              <a:t>Next experiments</a:t>
            </a:r>
            <a:endParaRPr lang="en-US" sz="1600" dirty="0"/>
          </a:p>
        </p:txBody>
      </p:sp>
      <p:sp>
        <p:nvSpPr>
          <p:cNvPr id="6" name="Text 4"/>
          <p:cNvSpPr txBox="1"/>
          <p:nvPr/>
        </p:nvSpPr>
        <p:spPr>
          <a:xfrm>
            <a:off x="640080" y="1554480"/>
            <a:ext cx="3657600" cy="2926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Multiple seeds and backbones; repair the DeBERTa-v3 run</a:t>
            </a:r>
            <a:endParaRPr lang="en-US" sz="1400" dirty="0"/>
          </a:p>
          <a:p>
            <a:pPr marL="342900" indent="-342900">
              <a:spcAft>
                <a:spcPts val="600"/>
              </a:spcAft>
              <a:buSzPct val="100000"/>
              <a:buChar char="•"/>
            </a:pPr>
            <a:r>
              <a:rPr lang="en-US" sz="1400" dirty="0">
                <a:solidFill>
                  <a:schemeClr val="tx1"/>
                </a:solidFill>
              </a:rPr>
              <a:t>Ablate each fine-tuning setting</a:t>
            </a:r>
            <a:endParaRPr lang="en-US" sz="1400" dirty="0"/>
          </a:p>
          <a:p>
            <a:pPr marL="342900" indent="-342900">
              <a:spcAft>
                <a:spcPts val="600"/>
              </a:spcAft>
              <a:buSzPct val="100000"/>
              <a:buChar char="•"/>
            </a:pPr>
            <a:r>
              <a:rPr lang="en-US" sz="1400" dirty="0">
                <a:solidFill>
                  <a:schemeClr val="tx1"/>
                </a:solidFill>
              </a:rPr>
              <a:t>Store evidence predictions; compute the challenge span metric</a:t>
            </a:r>
            <a:endParaRPr lang="en-US" sz="1400" dirty="0"/>
          </a:p>
          <a:p>
            <a:pPr marL="342900" indent="-342900">
              <a:spcAft>
                <a:spcPts val="600"/>
              </a:spcAft>
              <a:buSzPct val="100000"/>
              <a:buChar char="•"/>
            </a:pPr>
            <a:r>
              <a:rPr lang="en-US" sz="1400" dirty="0">
                <a:solidFill>
                  <a:schemeClr val="tx1"/>
                </a:solidFill>
              </a:rPr>
              <a:t>Let evidence abstain on “none” posts</a:t>
            </a:r>
            <a:endParaRPr lang="en-US" sz="1400" dirty="0"/>
          </a:p>
          <a:p>
            <a:pPr marL="342900" indent="-342900">
              <a:spcAft>
                <a:spcPts val="600"/>
              </a:spcAft>
              <a:buSzPct val="100000"/>
              <a:buChar char="•"/>
            </a:pPr>
            <a:r>
              <a:rPr lang="en-US" sz="1400" dirty="0">
                <a:solidFill>
                  <a:schemeClr val="tx1"/>
                </a:solidFill>
              </a:rPr>
              <a:t>Local open model for evidence</a:t>
            </a:r>
            <a:endParaRPr lang="en-US" sz="1400" dirty="0"/>
          </a:p>
        </p:txBody>
      </p:sp>
      <p:sp>
        <p:nvSpPr>
          <p:cNvPr id="7" name="Text 5"/>
          <p:cNvSpPr txBox="1"/>
          <p:nvPr/>
        </p:nvSpPr>
        <p:spPr>
          <a:xfrm>
            <a:off x="4846320" y="1143000"/>
            <a:ext cx="3657600" cy="320040"/>
          </a:xfrm>
          <a:prstGeom prst="rect">
            <a:avLst/>
          </a:prstGeom>
          <a:noFill/>
          <a:ln/>
        </p:spPr>
        <p:txBody>
          <a:bodyPr wrap="square" lIns="0" tIns="0" rIns="0" bIns="0" rtlCol="0" anchor="t"/>
          <a:lstStyle/>
          <a:p>
            <a:pPr algn="l" indent="0" marL="0">
              <a:buNone/>
            </a:pPr>
            <a:r>
              <a:rPr lang="en-US" sz="1600" b="1" dirty="0">
                <a:solidFill>
                  <a:schemeClr val="accent1"/>
                </a:solidFill>
              </a:rPr>
              <a:t>Research directions</a:t>
            </a:r>
            <a:endParaRPr lang="en-US" sz="1600" dirty="0"/>
          </a:p>
        </p:txBody>
      </p:sp>
      <p:sp>
        <p:nvSpPr>
          <p:cNvPr id="8" name="Text 6"/>
          <p:cNvSpPr txBox="1"/>
          <p:nvPr/>
        </p:nvSpPr>
        <p:spPr>
          <a:xfrm>
            <a:off x="4846320" y="1554480"/>
            <a:ext cx="3657600" cy="2926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Calibration and uncertainty estimation</a:t>
            </a:r>
            <a:endParaRPr lang="en-US" sz="1400" dirty="0"/>
          </a:p>
          <a:p>
            <a:pPr marL="342900" indent="-342900">
              <a:spcAft>
                <a:spcPts val="600"/>
              </a:spcAft>
              <a:buSzPct val="100000"/>
              <a:buChar char="•"/>
            </a:pPr>
            <a:r>
              <a:rPr lang="en-US" sz="1400" dirty="0">
                <a:solidFill>
                  <a:schemeClr val="tx1"/>
                </a:solidFill>
              </a:rPr>
              <a:t>Fairness and cross-domain evaluation</a:t>
            </a:r>
            <a:endParaRPr lang="en-US" sz="1400" dirty="0"/>
          </a:p>
          <a:p>
            <a:pPr marL="342900" indent="-342900">
              <a:spcAft>
                <a:spcPts val="600"/>
              </a:spcAft>
              <a:buSzPct val="100000"/>
              <a:buChar char="•"/>
            </a:pPr>
            <a:r>
              <a:rPr lang="en-US" sz="1400" dirty="0">
                <a:solidFill>
                  <a:schemeClr val="tx1"/>
                </a:solidFill>
              </a:rPr>
              <a:t>Better handling of rare factors</a:t>
            </a:r>
            <a:endParaRPr lang="en-US" sz="1400" dirty="0"/>
          </a:p>
          <a:p>
            <a:pPr marL="342900" indent="-342900">
              <a:spcAft>
                <a:spcPts val="600"/>
              </a:spcAft>
              <a:buSzPct val="100000"/>
              <a:buChar char="•"/>
            </a:pPr>
            <a:r>
              <a:rPr lang="en-US" sz="1400" dirty="0">
                <a:solidFill>
                  <a:schemeClr val="tx1"/>
                </a:solidFill>
              </a:rPr>
              <a:t>Human-in-the-loop study with clinicians</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8046720" cy="914400"/>
          </a:xfrm>
          <a:prstGeom prst="rect">
            <a:avLst/>
          </a:prstGeom>
          <a:noFill/>
          <a:ln/>
        </p:spPr>
        <p:txBody>
          <a:bodyPr wrap="square" lIns="0" tIns="0" rIns="0" bIns="0" rtlCol="0" anchor="ctr"/>
          <a:lstStyle/>
          <a:p>
            <a:pPr algn="l" indent="0" marL="0">
              <a:buNone/>
            </a:pPr>
            <a:r>
              <a:rPr lang="en-US" sz="3600" b="1" dirty="0">
                <a:solidFill>
                  <a:schemeClr val="bg1"/>
                </a:solidFill>
                <a:latin typeface="Cambria" pitchFamily="34" charset="0"/>
                <a:ea typeface="Cambria" pitchFamily="34" charset="-122"/>
                <a:cs typeface="Cambria" pitchFamily="34" charset="-120"/>
              </a:rPr>
              <a:t>Conclusion</a:t>
            </a:r>
            <a:endParaRPr lang="en-US" sz="3600" dirty="0"/>
          </a:p>
        </p:txBody>
      </p:sp>
      <p:sp>
        <p:nvSpPr>
          <p:cNvPr id="3" name="Text 1"/>
          <p:cNvSpPr txBox="1"/>
          <p:nvPr/>
        </p:nvSpPr>
        <p:spPr>
          <a:xfrm>
            <a:off x="548640" y="1371600"/>
            <a:ext cx="8046720" cy="182880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chemeClr val="bg1"/>
                </a:solidFill>
              </a:rPr>
              <a:t>Fine-tuned MentalRoBERTa raised held-out risk accuracy from 62.4% to 76.7%</a:t>
            </a:r>
            <a:endParaRPr lang="en-US" sz="1700" dirty="0"/>
          </a:p>
          <a:p>
            <a:pPr marL="342900" indent="-342900">
              <a:spcAft>
                <a:spcPts val="600"/>
              </a:spcAft>
              <a:buSzPct val="100000"/>
              <a:buChar char="•"/>
            </a:pPr>
            <a:r>
              <a:rPr lang="en-US" sz="1700" dirty="0">
                <a:solidFill>
                  <a:schemeClr val="bg1"/>
                </a:solidFill>
              </a:rPr>
              <a:t>Factor macro F1 0.389 → 0.481; evidence token F1 0.229 → 0.318 (proxy)</a:t>
            </a:r>
            <a:endParaRPr lang="en-US" sz="1700" dirty="0"/>
          </a:p>
          <a:p>
            <a:pPr marL="342900" indent="-342900">
              <a:spcAft>
                <a:spcPts val="600"/>
              </a:spcAft>
              <a:buSzPct val="100000"/>
              <a:buChar char="•"/>
            </a:pPr>
            <a:r>
              <a:rPr lang="en-US" sz="1700" dirty="0">
                <a:solidFill>
                  <a:schemeClr val="bg1"/>
                </a:solidFill>
              </a:rPr>
              <a:t>Evidence is verified verbatim, but selected by an external LLM</a:t>
            </a:r>
            <a:endParaRPr lang="en-US" sz="1700" dirty="0"/>
          </a:p>
          <a:p>
            <a:pPr marL="342900" indent="-342900">
              <a:spcAft>
                <a:spcPts val="600"/>
              </a:spcAft>
              <a:buSzPct val="100000"/>
              <a:buChar char="•"/>
            </a:pPr>
            <a:r>
              <a:rPr lang="en-US" sz="1700" dirty="0">
                <a:solidFill>
                  <a:schemeClr val="bg1"/>
                </a:solidFill>
              </a:rPr>
              <a:t>Stricter validation corrected an earlier conclusion</a:t>
            </a:r>
            <a:endParaRPr lang="en-US" sz="1700" dirty="0"/>
          </a:p>
        </p:txBody>
      </p:sp>
      <p:sp>
        <p:nvSpPr>
          <p:cNvPr id="4" name="Text 2"/>
          <p:cNvSpPr txBox="1"/>
          <p:nvPr/>
        </p:nvSpPr>
        <p:spPr>
          <a:xfrm>
            <a:off x="548640" y="3246120"/>
            <a:ext cx="8046720" cy="457200"/>
          </a:xfrm>
          <a:prstGeom prst="rect">
            <a:avLst/>
          </a:prstGeom>
          <a:noFill/>
          <a:ln/>
        </p:spPr>
        <p:txBody>
          <a:bodyPr wrap="square" lIns="0" tIns="0" rIns="0" bIns="0" rtlCol="0" anchor="t"/>
          <a:lstStyle/>
          <a:p>
            <a:pPr algn="l" indent="0" marL="0">
              <a:buNone/>
            </a:pPr>
            <a:r>
              <a:rPr lang="en-US" sz="2000" i="1" dirty="0">
                <a:solidFill>
                  <a:schemeClr val="accent4"/>
                </a:solidFill>
              </a:rPr>
              <a:t>“Explainable AI should assist human judgment — not replace it.”</a:t>
            </a:r>
            <a:endParaRPr lang="en-US" sz="2000" dirty="0"/>
          </a:p>
        </p:txBody>
      </p:sp>
      <p:sp>
        <p:nvSpPr>
          <p:cNvPr id="5" name="Text 3"/>
          <p:cNvSpPr txBox="1"/>
          <p:nvPr/>
        </p:nvSpPr>
        <p:spPr>
          <a:xfrm>
            <a:off x="548640" y="4023360"/>
            <a:ext cx="8046720" cy="457200"/>
          </a:xfrm>
          <a:prstGeom prst="rect">
            <a:avLst/>
          </a:prstGeom>
          <a:noFill/>
          <a:ln/>
        </p:spPr>
        <p:txBody>
          <a:bodyPr wrap="square" lIns="0" tIns="0" rIns="0" bIns="0" rtlCol="0" anchor="t"/>
          <a:lstStyle/>
          <a:p>
            <a:pPr algn="l" indent="0" marL="0">
              <a:buNone/>
            </a:pPr>
            <a:r>
              <a:rPr lang="en-US" sz="2600" b="1" dirty="0">
                <a:solidFill>
                  <a:schemeClr val="bg1"/>
                </a:solidFill>
                <a:latin typeface="Cambria" pitchFamily="34" charset="0"/>
                <a:ea typeface="Cambria" pitchFamily="34" charset="-122"/>
                <a:cs typeface="Cambria" pitchFamily="34" charset="-120"/>
              </a:rPr>
              <a:t>Thank You  |  Questions?</a:t>
            </a:r>
            <a:endParaRPr lang="en-US" sz="26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NeuralForge IEEE">
  <a:themeElements>
    <a:clrScheme name="NeuralForge IEEE">
      <a:dk1>
        <a:srgbClr val="0B1F3A"/>
      </a:dk1>
      <a:lt1>
        <a:srgbClr val="FFFFFF"/>
      </a:lt1>
      <a:dk2>
        <a:srgbClr val="1F3A5F"/>
      </a:dk2>
      <a:lt2>
        <a:srgbClr val="EEF3F8"/>
      </a:lt2>
      <a:accent1>
        <a:srgbClr val="0FA3B1"/>
      </a:accent1>
      <a:accent2>
        <a:srgbClr val="B5443F"/>
      </a:accent2>
      <a:accent3>
        <a:srgbClr val="5B6B7F"/>
      </a:accent3>
      <a:accent4>
        <a:srgbClr val="7FD6DD"/>
      </a:accent4>
      <a:accent5>
        <a:srgbClr val="2E5E8C"/>
      </a:accent5>
      <a:accent6>
        <a:srgbClr val="D3DDE8"/>
      </a:accent6>
      <a:hlink>
        <a:srgbClr val="0FA3B1"/>
      </a:hlink>
      <a:folHlink>
        <a:srgbClr val="5B6B7F"/>
      </a:folHlink>
    </a:clrScheme>
    <a:fontScheme name="NeuralForge IEE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Explainable Suicide Risk Detection Using NLP</dc:title>
  <dc:subject>PptxGenJS Presentation</dc:subject>
  <dc:creator>SSN NeuralForge</dc:creator>
  <cp:lastModifiedBy>SSN NeuralForge</cp:lastModifiedBy>
  <cp:revision>1</cp:revision>
  <dcterms:created xsi:type="dcterms:W3CDTF">2026-10-14T18:03:55Z</dcterms:created>
  <dcterms:modified xsi:type="dcterms:W3CDTF">2026-10-14T18:03:55Z</dcterms:modified>
</cp:coreProperties>
</file>